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frame: cognipeer is positioned as an enterprise AI control plane, not another AI tool. Console, Agent SDK and Agent Server are one platform. 10-15 minutes of architecture story, then straight into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enterprise reaches the same point: AI stops being a project and becomes an infrastructure layer. Each team picks its own models, agents and data paths. Nothing is centrally governed, measured or attributable — which is an infrastructure problem, not a model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architecture slide. Consumers on top, foundation at the bottom, and one control plane in between with four capability areas: control and sovereignty, build and run, observe and govern, FinOps. Everything after this slide is a zoom into one of those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Sovereignty is the entry condition for enterprise AI: which models are allowed, where workloads run, who can access them, which policies apply and where data stays. Self-hosted and on-premise deployment keep that decision with the organization, not with a vendor.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source here is not a pricing argument, it is a sovereignty argument: transparency, extensibility, code-level control, no lock-in. The service model is what makes it enterprise-ready — deployment, integration, customization, upgrades and support stay with 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platform carries a workload from sandbox experiment to production service: build in the sandbox with the SDK, test against traces and guardrails, publish a version, serve it over authenticated APIs with streaming. No rewrite between prototype and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questions, in order: what happened, why did it happen, can we control it. Tracing answers the first two down to the model request and tool call. Guardrails, human-in-the-loop, interrupt and runtime policies answer the third. This is an operations layer, not a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cost behaves like cloud cost did ten years ago: it grows before anyone can attribute it. Usage is tracked per project and team, cost is attributed, budgets and quotas enforce limits, and routing plus provider fallback optimize what is left.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service surface behind the four capability areas. Each of these is a production service in the platform today — the demo will move through the gateway, sandbox, tracing and serving paths.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slide. Move into the product: configure a provider and model, build an agent in the sandbox, run it, watch the trace, apply a guardrail or interrupt, then show usage and cost attribution.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 pitching here. Walk through the discussion areas with the team, map their current workloads and constraints, and land on a first pilot scope that is narrow enough to deliver and representative enough to prove the control plane.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Appendix. Use only if the audience asks for capability-level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Appendix. Backup screenshots in case the live environment is unavailable.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2148840"/>
            <a:ext cx="2103120" cy="2103120"/>
          </a:xfrm>
          <a:prstGeom prst="ellipse">
            <a:avLst/>
          </a:prstGeom>
          <a:solidFill>
            <a:srgbClr val="0A0E13">
              <a:alpha val="0"/>
            </a:srgbClr>
          </a:solidFill>
          <a:ln w="9525">
            <a:solidFill>
              <a:srgbClr val="0FBA94">
                <a:alpha val="3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1508760"/>
            <a:ext cx="3383280" cy="3383280"/>
          </a:xfrm>
          <a:prstGeom prst="ellipse">
            <a:avLst/>
          </a:prstGeom>
          <a:solidFill>
            <a:srgbClr val="0A0E13">
              <a:alpha val="0"/>
            </a:srgbClr>
          </a:solidFill>
          <a:ln w="9525">
            <a:solidFill>
              <a:srgbClr val="0FBA94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868680"/>
            <a:ext cx="4663440" cy="4663440"/>
          </a:xfrm>
          <a:prstGeom prst="ellipse">
            <a:avLst/>
          </a:prstGeom>
          <a:solidFill>
            <a:srgbClr val="0A0E13">
              <a:alpha val="0"/>
            </a:srgbClr>
          </a:solidFill>
          <a:ln w="9525">
            <a:solidFill>
              <a:srgbClr val="0FBA94">
                <a:alpha val="18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2" y="2862072"/>
            <a:ext cx="676656" cy="676656"/>
          </a:xfrm>
          <a:prstGeom prst="rect">
            <a:avLst/>
          </a:prstGeom>
        </p:spPr>
      </p:pic>
      <p:pic>
        <p:nvPicPr>
          <p:cNvPr id="6" name="Image 1" descr="/home/user/console/public/images/cognipeer-logo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868680"/>
            <a:ext cx="1920240" cy="42976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58368" y="2357323"/>
            <a:ext cx="70409" cy="70409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04672" y="2286000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0FBA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ENTERPRISE AI CONTROL PLANE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630936" y="2670048"/>
            <a:ext cx="7498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100" spc="-30" kern="0" dirty="0">
                <a:solidFill>
                  <a:srgbClr val="ECF1F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platform to centrally control, build, operate and optimize enterprise AI workloads.</a:t>
            </a:r>
            <a:endParaRPr lang="en-US" sz="3100" dirty="0"/>
          </a:p>
        </p:txBody>
      </p:sp>
      <p:sp>
        <p:nvSpPr>
          <p:cNvPr id="10" name="Shape 6"/>
          <p:cNvSpPr/>
          <p:nvPr/>
        </p:nvSpPr>
        <p:spPr>
          <a:xfrm>
            <a:off x="658368" y="4572000"/>
            <a:ext cx="1481328" cy="420624"/>
          </a:xfrm>
          <a:prstGeom prst="roundRect">
            <a:avLst>
              <a:gd name="adj" fmla="val 50000"/>
            </a:avLst>
          </a:prstGeom>
          <a:solidFill>
            <a:srgbClr val="161C24"/>
          </a:solidFill>
          <a:ln w="12700">
            <a:solidFill>
              <a:srgbClr val="1D242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59536" y="45720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BCC7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Console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286000" y="4572000"/>
            <a:ext cx="1481328" cy="420624"/>
          </a:xfrm>
          <a:prstGeom prst="roundRect">
            <a:avLst>
              <a:gd name="adj" fmla="val 50000"/>
            </a:avLst>
          </a:prstGeom>
          <a:solidFill>
            <a:srgbClr val="161C24"/>
          </a:solidFill>
          <a:ln w="12700">
            <a:solidFill>
              <a:srgbClr val="1D242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487168" y="45720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BCC7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Agent SDK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913632" y="4572000"/>
            <a:ext cx="1481328" cy="420624"/>
          </a:xfrm>
          <a:prstGeom prst="roundRect">
            <a:avLst>
              <a:gd name="adj" fmla="val 50000"/>
            </a:avLst>
          </a:prstGeom>
          <a:solidFill>
            <a:srgbClr val="161C24"/>
          </a:solidFill>
          <a:ln w="12700">
            <a:solidFill>
              <a:srgbClr val="1D242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114800" y="4572000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BCC7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Agent Server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58368" y="5577840"/>
            <a:ext cx="5394960" cy="10058"/>
          </a:xfrm>
          <a:prstGeom prst="rect">
            <a:avLst/>
          </a:prstGeom>
          <a:solidFill>
            <a:srgbClr val="1D24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58368" y="57424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939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 source foundation  ·  Enterprise service model  ·  Full infrastructure control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73659"/>
            <a:ext cx="70409" cy="70409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02336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CONTEXT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0936" y="69494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-30" kern="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Enterprise AI Is Becoming an Infrastructure Layer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AI workloads spread across models, agents, applications, teams, data and infrastructure.</a:t>
            </a:r>
            <a:endParaRPr lang="en-US" sz="1400" dirty="0"/>
          </a:p>
        </p:txBody>
      </p:sp>
      <p:pic>
        <p:nvPicPr>
          <p:cNvPr id="6" name="Image 0" descr="/home/user/console/public/images/cognipeer-logo-d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658368" y="6382512"/>
            <a:ext cx="841248" cy="1883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53167" y="63642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98A1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13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658368" y="1828800"/>
            <a:ext cx="6446520" cy="3950208"/>
          </a:xfrm>
          <a:prstGeom prst="roundRect">
            <a:avLst>
              <a:gd name="adj" fmla="val 2546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  <a:effectLst>
            <a:outerShdw sx="100000" sy="100000" kx="0" ky="0" algn="bl" rotWithShape="0" blurRad="152400" dist="19050" dir="5400000">
              <a:srgbClr val="141E28">
                <a:alpha val="7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987552" y="2174443"/>
            <a:ext cx="70409" cy="70409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133856" y="2103120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TODAY'S ENTERPRISE AI FOOTPRINT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987552" y="2542032"/>
            <a:ext cx="2743200" cy="640080"/>
          </a:xfrm>
          <a:prstGeom prst="roundRect">
            <a:avLst>
              <a:gd name="adj" fmla="val 12857"/>
            </a:avLst>
          </a:prstGeom>
          <a:solidFill>
            <a:srgbClr val="F7F7F4"/>
          </a:solidFill>
          <a:ln w="12700">
            <a:solidFill>
              <a:srgbClr val="EFEFE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272491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36192" y="26243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Models &amp; Providers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1536192" y="28712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OpenAI, Anthropic, Bedrock, vLLM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3950208" y="2542032"/>
            <a:ext cx="2743200" cy="640080"/>
          </a:xfrm>
          <a:prstGeom prst="roundRect">
            <a:avLst>
              <a:gd name="adj" fmla="val 12857"/>
            </a:avLst>
          </a:prstGeom>
          <a:solidFill>
            <a:srgbClr val="F7F7F4"/>
          </a:solidFill>
          <a:ln w="12700">
            <a:solidFill>
              <a:srgbClr val="EFEFE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2724912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498848" y="26243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AI Agents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498848" y="28712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Per team, per use case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987552" y="3300984"/>
            <a:ext cx="2743200" cy="640080"/>
          </a:xfrm>
          <a:prstGeom prst="roundRect">
            <a:avLst>
              <a:gd name="adj" fmla="val 12857"/>
            </a:avLst>
          </a:prstGeom>
          <a:solidFill>
            <a:srgbClr val="F7F7F4"/>
          </a:solidFill>
          <a:ln w="12700">
            <a:solidFill>
              <a:srgbClr val="EFEFE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144" y="3483864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36192" y="33832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Business Applications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1536192" y="36301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Embedded AI features</a:t>
            </a:r>
            <a:endParaRPr lang="en-US" sz="850" dirty="0"/>
          </a:p>
        </p:txBody>
      </p:sp>
      <p:sp>
        <p:nvSpPr>
          <p:cNvPr id="24" name="Shape 17"/>
          <p:cNvSpPr/>
          <p:nvPr/>
        </p:nvSpPr>
        <p:spPr>
          <a:xfrm>
            <a:off x="3950208" y="3300984"/>
            <a:ext cx="2743200" cy="640080"/>
          </a:xfrm>
          <a:prstGeom prst="roundRect">
            <a:avLst>
              <a:gd name="adj" fmla="val 12857"/>
            </a:avLst>
          </a:prstGeom>
          <a:solidFill>
            <a:srgbClr val="F7F7F4"/>
          </a:solidFill>
          <a:ln w="12700">
            <a:solidFill>
              <a:srgbClr val="EFEFEA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3483864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498848" y="33832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Teams &amp; Business Units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4498848" y="36301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Parallel adoption</a:t>
            </a:r>
            <a:endParaRPr lang="en-US" sz="850" dirty="0"/>
          </a:p>
        </p:txBody>
      </p:sp>
      <p:sp>
        <p:nvSpPr>
          <p:cNvPr id="28" name="Shape 20"/>
          <p:cNvSpPr/>
          <p:nvPr/>
        </p:nvSpPr>
        <p:spPr>
          <a:xfrm>
            <a:off x="987552" y="4059936"/>
            <a:ext cx="2743200" cy="640080"/>
          </a:xfrm>
          <a:prstGeom prst="roundRect">
            <a:avLst>
              <a:gd name="adj" fmla="val 12857"/>
            </a:avLst>
          </a:prstGeom>
          <a:solidFill>
            <a:srgbClr val="F7F7F4"/>
          </a:solidFill>
          <a:ln w="12700">
            <a:solidFill>
              <a:srgbClr val="EFEFEA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2144" y="4242816"/>
            <a:ext cx="274320" cy="27432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536192" y="41422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Enterprise Data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1536192" y="43891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Documents, systems, knowledge</a:t>
            </a:r>
            <a:endParaRPr lang="en-US" sz="850" dirty="0"/>
          </a:p>
        </p:txBody>
      </p:sp>
      <p:sp>
        <p:nvSpPr>
          <p:cNvPr id="32" name="Shape 23"/>
          <p:cNvSpPr/>
          <p:nvPr/>
        </p:nvSpPr>
        <p:spPr>
          <a:xfrm>
            <a:off x="3950208" y="4059936"/>
            <a:ext cx="2743200" cy="640080"/>
          </a:xfrm>
          <a:prstGeom prst="roundRect">
            <a:avLst>
              <a:gd name="adj" fmla="val 12857"/>
            </a:avLst>
          </a:prstGeom>
          <a:solidFill>
            <a:srgbClr val="F7F7F4"/>
          </a:solidFill>
          <a:ln w="12700">
            <a:solidFill>
              <a:srgbClr val="EFEFEA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0" y="4242816"/>
            <a:ext cx="274320" cy="27432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4498848" y="41422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APIs &amp; Tools</a:t>
            </a:r>
            <a:endParaRPr lang="en-US" sz="1100" dirty="0"/>
          </a:p>
        </p:txBody>
      </p:sp>
      <p:sp>
        <p:nvSpPr>
          <p:cNvPr id="35" name="Text 25"/>
          <p:cNvSpPr/>
          <p:nvPr/>
        </p:nvSpPr>
        <p:spPr>
          <a:xfrm>
            <a:off x="4498848" y="43891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Internal and external calls</a:t>
            </a:r>
            <a:endParaRPr lang="en-US" sz="850" dirty="0"/>
          </a:p>
        </p:txBody>
      </p:sp>
      <p:sp>
        <p:nvSpPr>
          <p:cNvPr id="36" name="Shape 26"/>
          <p:cNvSpPr/>
          <p:nvPr/>
        </p:nvSpPr>
        <p:spPr>
          <a:xfrm>
            <a:off x="987552" y="4818888"/>
            <a:ext cx="2743200" cy="640080"/>
          </a:xfrm>
          <a:prstGeom prst="roundRect">
            <a:avLst>
              <a:gd name="adj" fmla="val 12857"/>
            </a:avLst>
          </a:prstGeom>
          <a:solidFill>
            <a:srgbClr val="F7F7F4"/>
          </a:solidFill>
          <a:ln w="12700">
            <a:solidFill>
              <a:srgbClr val="EFEFEA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2144" y="5001768"/>
            <a:ext cx="274320" cy="27432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1536192" y="490118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Security &amp; Policies</a:t>
            </a:r>
            <a:endParaRPr lang="en-US" sz="1100" dirty="0"/>
          </a:p>
        </p:txBody>
      </p:sp>
      <p:sp>
        <p:nvSpPr>
          <p:cNvPr id="39" name="Text 28"/>
          <p:cNvSpPr/>
          <p:nvPr/>
        </p:nvSpPr>
        <p:spPr>
          <a:xfrm>
            <a:off x="1536192" y="514807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Applied inconsistently</a:t>
            </a:r>
            <a:endParaRPr lang="en-US" sz="850" dirty="0"/>
          </a:p>
        </p:txBody>
      </p:sp>
      <p:sp>
        <p:nvSpPr>
          <p:cNvPr id="40" name="Shape 29"/>
          <p:cNvSpPr/>
          <p:nvPr/>
        </p:nvSpPr>
        <p:spPr>
          <a:xfrm>
            <a:off x="3950208" y="4818888"/>
            <a:ext cx="2743200" cy="640080"/>
          </a:xfrm>
          <a:prstGeom prst="roundRect">
            <a:avLst>
              <a:gd name="adj" fmla="val 12857"/>
            </a:avLst>
          </a:prstGeom>
          <a:solidFill>
            <a:srgbClr val="F7F7F4"/>
          </a:solidFill>
          <a:ln w="12700">
            <a:solidFill>
              <a:srgbClr val="EFEFEA"/>
            </a:solidFill>
            <a:prstDash val="solid"/>
          </a:ln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0" y="5001768"/>
            <a:ext cx="274320" cy="27432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4498848" y="490118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Usage &amp; Cost</a:t>
            </a:r>
            <a:endParaRPr lang="en-US" sz="1100" dirty="0"/>
          </a:p>
        </p:txBody>
      </p:sp>
      <p:sp>
        <p:nvSpPr>
          <p:cNvPr id="43" name="Text 31"/>
          <p:cNvSpPr/>
          <p:nvPr/>
        </p:nvSpPr>
        <p:spPr>
          <a:xfrm>
            <a:off x="4498848" y="514807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Growing, hard to attribute</a:t>
            </a:r>
            <a:endParaRPr lang="en-US" sz="850" dirty="0"/>
          </a:p>
        </p:txBody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42048" y="3675888"/>
            <a:ext cx="274320" cy="274320"/>
          </a:xfrm>
          <a:prstGeom prst="rect">
            <a:avLst/>
          </a:prstGeom>
        </p:spPr>
      </p:pic>
      <p:sp>
        <p:nvSpPr>
          <p:cNvPr id="45" name="Shape 32"/>
          <p:cNvSpPr/>
          <p:nvPr/>
        </p:nvSpPr>
        <p:spPr>
          <a:xfrm>
            <a:off x="7580376" y="1828800"/>
            <a:ext cx="3950208" cy="3950208"/>
          </a:xfrm>
          <a:prstGeom prst="roundRect">
            <a:avLst>
              <a:gd name="adj" fmla="val 2546"/>
            </a:avLst>
          </a:prstGeom>
          <a:solidFill>
            <a:srgbClr val="0C1118"/>
          </a:solidFill>
          <a:ln w="12700">
            <a:solidFill>
              <a:srgbClr val="0C1118"/>
            </a:solidFill>
            <a:prstDash val="solid"/>
          </a:ln>
        </p:spPr>
      </p:sp>
      <p:sp>
        <p:nvSpPr>
          <p:cNvPr id="46" name="Shape 33"/>
          <p:cNvSpPr/>
          <p:nvPr/>
        </p:nvSpPr>
        <p:spPr>
          <a:xfrm>
            <a:off x="7909560" y="2174443"/>
            <a:ext cx="70409" cy="70409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8055864" y="2103120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0FBA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QUESTION</a:t>
            </a:r>
            <a:endParaRPr lang="en-US" sz="950" dirty="0"/>
          </a:p>
        </p:txBody>
      </p:sp>
      <p:sp>
        <p:nvSpPr>
          <p:cNvPr id="48" name="Text 35"/>
          <p:cNvSpPr/>
          <p:nvPr/>
        </p:nvSpPr>
        <p:spPr>
          <a:xfrm>
            <a:off x="7909560" y="260604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2400" spc="-20" kern="0" dirty="0">
                <a:solidFill>
                  <a:srgbClr val="ECF1F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do you centrally manage enterprise AI workloads?</a:t>
            </a:r>
            <a:endParaRPr lang="en-US" sz="2400" dirty="0"/>
          </a:p>
        </p:txBody>
      </p:sp>
      <p:sp>
        <p:nvSpPr>
          <p:cNvPr id="49" name="Shape 36"/>
          <p:cNvSpPr/>
          <p:nvPr/>
        </p:nvSpPr>
        <p:spPr>
          <a:xfrm>
            <a:off x="7909560" y="4434840"/>
            <a:ext cx="3291840" cy="10058"/>
          </a:xfrm>
          <a:prstGeom prst="rect">
            <a:avLst/>
          </a:prstGeom>
          <a:solidFill>
            <a:srgbClr val="2A32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37"/>
          <p:cNvSpPr/>
          <p:nvPr/>
        </p:nvSpPr>
        <p:spPr>
          <a:xfrm>
            <a:off x="7909560" y="46177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A939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Models, agents, data, access, policies and cost need one place where they are decided, enforced and observed.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73659"/>
            <a:ext cx="70409" cy="70409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02336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8A93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ARCHITECTURE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0936" y="69494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-30" kern="0" dirty="0">
                <a:solidFill>
                  <a:srgbClr val="ECF1F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Enterprise AI Control Plane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4BCC7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platform to centrally control, build, operate and optimize enterprise AI workloads.</a:t>
            </a:r>
            <a:endParaRPr lang="en-US" sz="1400" dirty="0"/>
          </a:p>
        </p:txBody>
      </p:sp>
      <p:pic>
        <p:nvPicPr>
          <p:cNvPr id="6" name="Image 0" descr="/home/user/console/public/images/cognipeer-logo-w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658368" y="6382512"/>
            <a:ext cx="841248" cy="1883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53167" y="63642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A64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13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658368" y="1847088"/>
            <a:ext cx="10874959" cy="676656"/>
          </a:xfrm>
          <a:prstGeom prst="roundRect">
            <a:avLst>
              <a:gd name="adj" fmla="val 14865"/>
            </a:avLst>
          </a:prstGeom>
          <a:solidFill>
            <a:srgbClr val="11161D"/>
          </a:solidFill>
          <a:ln w="12700">
            <a:solidFill>
              <a:srgbClr val="1D242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69264" y="1847088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A64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CONSUMERS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2852928" y="1847088"/>
            <a:ext cx="648583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4BCC7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Applications   ·   Teams   ·   Business Units   ·   Products</a:t>
            </a:r>
            <a:endParaRPr lang="en-US" sz="13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560320"/>
            <a:ext cx="301752" cy="30175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58368" y="2926080"/>
            <a:ext cx="10874959" cy="2084832"/>
          </a:xfrm>
          <a:prstGeom prst="roundRect">
            <a:avLst>
              <a:gd name="adj" fmla="val 4825"/>
            </a:avLst>
          </a:prstGeom>
          <a:solidFill>
            <a:srgbClr val="0C161A"/>
          </a:solidFill>
          <a:ln w="15875">
            <a:solidFill>
              <a:srgbClr val="0A9978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969264" y="3218688"/>
            <a:ext cx="73152" cy="73152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1133856" y="3108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0FBA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COGNIPEER  ·  ENTERPRISE AI CONTROL PLANE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7692847" y="3108960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39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Console  ·  Agent SDK  ·  Agent Server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969264" y="3584448"/>
            <a:ext cx="2412416" cy="1170432"/>
          </a:xfrm>
          <a:prstGeom prst="roundRect">
            <a:avLst>
              <a:gd name="adj" fmla="val 7813"/>
            </a:avLst>
          </a:prstGeom>
          <a:solidFill>
            <a:srgbClr val="11161D"/>
          </a:solidFill>
          <a:ln w="12700">
            <a:solidFill>
              <a:srgbClr val="2A323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144" y="3749040"/>
            <a:ext cx="265176" cy="26517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52144" y="4069080"/>
            <a:ext cx="213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F1F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Control &amp; Sovereignty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1152144" y="4325112"/>
            <a:ext cx="215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8A939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Models, data, access,</a:t>
            </a:r>
            <a:endParaRPr lang="en-US" sz="88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8A939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policies, deployment</a:t>
            </a:r>
            <a:endParaRPr lang="en-US" sz="880" dirty="0"/>
          </a:p>
        </p:txBody>
      </p:sp>
      <p:sp>
        <p:nvSpPr>
          <p:cNvPr id="21" name="Shape 15"/>
          <p:cNvSpPr/>
          <p:nvPr/>
        </p:nvSpPr>
        <p:spPr>
          <a:xfrm>
            <a:off x="3582848" y="3584448"/>
            <a:ext cx="2412416" cy="1170432"/>
          </a:xfrm>
          <a:prstGeom prst="roundRect">
            <a:avLst>
              <a:gd name="adj" fmla="val 7813"/>
            </a:avLst>
          </a:prstGeom>
          <a:solidFill>
            <a:srgbClr val="11161D"/>
          </a:solidFill>
          <a:ln w="12700">
            <a:solidFill>
              <a:srgbClr val="2A323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5728" y="3749040"/>
            <a:ext cx="265176" cy="26517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765728" y="4069080"/>
            <a:ext cx="213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F1F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Build &amp; Run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3765728" y="4325112"/>
            <a:ext cx="215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8A939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Sandbox, SDK, runtime,</a:t>
            </a:r>
            <a:endParaRPr lang="en-US" sz="88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8A939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serving, versioning</a:t>
            </a:r>
            <a:endParaRPr lang="en-US" sz="880" dirty="0"/>
          </a:p>
        </p:txBody>
      </p:sp>
      <p:sp>
        <p:nvSpPr>
          <p:cNvPr id="25" name="Shape 18"/>
          <p:cNvSpPr/>
          <p:nvPr/>
        </p:nvSpPr>
        <p:spPr>
          <a:xfrm>
            <a:off x="6196432" y="3584448"/>
            <a:ext cx="2412416" cy="1170432"/>
          </a:xfrm>
          <a:prstGeom prst="roundRect">
            <a:avLst>
              <a:gd name="adj" fmla="val 7813"/>
            </a:avLst>
          </a:prstGeom>
          <a:solidFill>
            <a:srgbClr val="11161D"/>
          </a:solidFill>
          <a:ln w="12700">
            <a:solidFill>
              <a:srgbClr val="2A323D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9312" y="3749040"/>
            <a:ext cx="265176" cy="26517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379312" y="4069080"/>
            <a:ext cx="213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F1F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Observe &amp; Govern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6379312" y="4325112"/>
            <a:ext cx="215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8A939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Traces, guardrails,</a:t>
            </a:r>
            <a:endParaRPr lang="en-US" sz="88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8A939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approvals, runtime policy</a:t>
            </a:r>
            <a:endParaRPr lang="en-US" sz="880" dirty="0"/>
          </a:p>
        </p:txBody>
      </p:sp>
      <p:sp>
        <p:nvSpPr>
          <p:cNvPr id="29" name="Shape 21"/>
          <p:cNvSpPr/>
          <p:nvPr/>
        </p:nvSpPr>
        <p:spPr>
          <a:xfrm>
            <a:off x="8810015" y="3584448"/>
            <a:ext cx="2412416" cy="1170432"/>
          </a:xfrm>
          <a:prstGeom prst="roundRect">
            <a:avLst>
              <a:gd name="adj" fmla="val 7813"/>
            </a:avLst>
          </a:prstGeom>
          <a:solidFill>
            <a:srgbClr val="11161D"/>
          </a:solidFill>
          <a:ln w="12700">
            <a:solidFill>
              <a:srgbClr val="2A323D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2895" y="3749040"/>
            <a:ext cx="265176" cy="26517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992895" y="4069080"/>
            <a:ext cx="213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F1F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FinOps &amp; Optimization</a:t>
            </a:r>
            <a:endParaRPr lang="en-US" sz="1150" dirty="0"/>
          </a:p>
        </p:txBody>
      </p:sp>
      <p:sp>
        <p:nvSpPr>
          <p:cNvPr id="32" name="Text 23"/>
          <p:cNvSpPr/>
          <p:nvPr/>
        </p:nvSpPr>
        <p:spPr>
          <a:xfrm>
            <a:off x="8992895" y="4325112"/>
            <a:ext cx="215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8A939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Usage, cost, budgets,</a:t>
            </a:r>
            <a:endParaRPr lang="en-US" sz="88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8A939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routing, fallback</a:t>
            </a:r>
            <a:endParaRPr lang="en-US" sz="88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0" y="5047488"/>
            <a:ext cx="301752" cy="301752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658368" y="5413248"/>
            <a:ext cx="10874959" cy="676656"/>
          </a:xfrm>
          <a:prstGeom prst="roundRect">
            <a:avLst>
              <a:gd name="adj" fmla="val 14865"/>
            </a:avLst>
          </a:prstGeom>
          <a:solidFill>
            <a:srgbClr val="11161D"/>
          </a:solidFill>
          <a:ln w="12700">
            <a:solidFill>
              <a:srgbClr val="1D242D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969264" y="5413248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5A64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36" name="Text 26"/>
          <p:cNvSpPr/>
          <p:nvPr/>
        </p:nvSpPr>
        <p:spPr>
          <a:xfrm>
            <a:off x="2852928" y="5413248"/>
            <a:ext cx="648583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4BCC7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Models   ·   Agents   ·   Data   ·   Tools   ·   Infrastructure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73659"/>
            <a:ext cx="70409" cy="70409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02336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CONTROL &amp; SOVEREIGNTY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0936" y="69494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-30" kern="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Control &amp; Sovereignty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Maintain control over your enterprise AI infrastructure.</a:t>
            </a:r>
            <a:endParaRPr lang="en-US" sz="1400" dirty="0"/>
          </a:p>
        </p:txBody>
      </p:sp>
      <p:pic>
        <p:nvPicPr>
          <p:cNvPr id="6" name="Image 0" descr="/home/user/console/public/images/cognipeer-logo-d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658368" y="6382512"/>
            <a:ext cx="841248" cy="1883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53167" y="63642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98A1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13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658368" y="1828800"/>
            <a:ext cx="3611880" cy="3950208"/>
          </a:xfrm>
          <a:prstGeom prst="roundRect">
            <a:avLst>
              <a:gd name="adj" fmla="val 2785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  <a:effectLst>
            <a:outerShdw sx="100000" sy="100000" kx="0" ky="0" algn="bl" rotWithShape="0" blurRad="152400" dist="19050" dir="5400000">
              <a:srgbClr val="141E28">
                <a:alpha val="7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950976" y="2156155"/>
            <a:ext cx="70409" cy="70409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097280" y="2084832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ORGANIZATION DECIDES</a:t>
            </a:r>
            <a:endParaRPr lang="en-US" sz="9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606040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257860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models can be used</a:t>
            </a:r>
            <a:endParaRPr lang="en-US" sz="11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108960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308152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AI workloads run</a:t>
            </a:r>
            <a:endParaRPr lang="en-US" sz="11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3611880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80160" y="358444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can access them</a:t>
            </a:r>
            <a:endParaRPr lang="en-US" sz="11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4114800"/>
            <a:ext cx="219456" cy="21945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280160" y="408736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policies apply</a:t>
            </a:r>
            <a:endParaRPr lang="en-US" sz="11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" y="4617720"/>
            <a:ext cx="219456" cy="219456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280160" y="459028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enterprise data remains</a:t>
            </a:r>
            <a:endParaRPr lang="en-US" sz="11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976" y="5120640"/>
            <a:ext cx="219456" cy="219456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1280160" y="509320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AI infrastructure is governed</a:t>
            </a:r>
            <a:endParaRPr lang="en-US" sz="1150" dirty="0"/>
          </a:p>
        </p:txBody>
      </p:sp>
      <p:sp>
        <p:nvSpPr>
          <p:cNvPr id="24" name="Shape 14"/>
          <p:cNvSpPr/>
          <p:nvPr/>
        </p:nvSpPr>
        <p:spPr>
          <a:xfrm>
            <a:off x="4617720" y="1828800"/>
            <a:ext cx="6915607" cy="804672"/>
          </a:xfrm>
          <a:prstGeom prst="roundRect">
            <a:avLst>
              <a:gd name="adj" fmla="val 12500"/>
            </a:avLst>
          </a:prstGeom>
          <a:solidFill>
            <a:srgbClr val="ECFDF6"/>
          </a:solidFill>
          <a:ln w="12700">
            <a:solidFill>
              <a:srgbClr val="A4F3D5"/>
            </a:solidFill>
            <a:prstDash val="solid"/>
          </a:ln>
          <a:effectLst>
            <a:outerShdw sx="100000" sy="100000" kx="0" ky="0" algn="bl" rotWithShape="0" blurRad="152400" dist="19050" dir="5400000">
              <a:srgbClr val="141E28">
                <a:alpha val="7000"/>
              </a:srgbClr>
            </a:outerShdw>
          </a:effectLst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2084832"/>
            <a:ext cx="310896" cy="310896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330952" y="1828800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cognipeer Control Plane</a:t>
            </a:r>
            <a:endParaRPr lang="en-US" sz="1550" dirty="0"/>
          </a:p>
        </p:txBody>
      </p:sp>
      <p:sp>
        <p:nvSpPr>
          <p:cNvPr id="27" name="Text 16"/>
          <p:cNvSpPr/>
          <p:nvPr/>
        </p:nvSpPr>
        <p:spPr>
          <a:xfrm>
            <a:off x="8790127" y="182880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30" kern="0" dirty="0">
                <a:solidFill>
                  <a:srgbClr val="0A99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ONE POINT OF CONTROL</a:t>
            </a:r>
            <a:endParaRPr lang="en-US" sz="900" dirty="0"/>
          </a:p>
        </p:txBody>
      </p:sp>
      <p:sp>
        <p:nvSpPr>
          <p:cNvPr id="28" name="Shape 17"/>
          <p:cNvSpPr/>
          <p:nvPr/>
        </p:nvSpPr>
        <p:spPr>
          <a:xfrm>
            <a:off x="8075524" y="2633472"/>
            <a:ext cx="10058" cy="201168"/>
          </a:xfrm>
          <a:prstGeom prst="rect">
            <a:avLst/>
          </a:prstGeom>
          <a:solidFill>
            <a:srgbClr val="E8E8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18"/>
          <p:cNvSpPr/>
          <p:nvPr/>
        </p:nvSpPr>
        <p:spPr>
          <a:xfrm>
            <a:off x="5248656" y="2834640"/>
            <a:ext cx="5653735" cy="10058"/>
          </a:xfrm>
          <a:prstGeom prst="rect">
            <a:avLst/>
          </a:prstGeom>
          <a:solidFill>
            <a:srgbClr val="E8E8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19"/>
          <p:cNvSpPr/>
          <p:nvPr/>
        </p:nvSpPr>
        <p:spPr>
          <a:xfrm>
            <a:off x="5258074" y="2834640"/>
            <a:ext cx="10058" cy="201168"/>
          </a:xfrm>
          <a:prstGeom prst="rect">
            <a:avLst/>
          </a:prstGeom>
          <a:solidFill>
            <a:srgbClr val="E8E8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0"/>
          <p:cNvSpPr/>
          <p:nvPr/>
        </p:nvSpPr>
        <p:spPr>
          <a:xfrm>
            <a:off x="4617720" y="3035808"/>
            <a:ext cx="1280709" cy="1463040"/>
          </a:xfrm>
          <a:prstGeom prst="roundRect">
            <a:avLst>
              <a:gd name="adj" fmla="val 7854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2312" y="3218688"/>
            <a:ext cx="265176" cy="265176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4782312" y="3566160"/>
            <a:ext cx="10246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Models</a:t>
            </a:r>
            <a:endParaRPr lang="en-US" sz="1100" dirty="0"/>
          </a:p>
        </p:txBody>
      </p:sp>
      <p:sp>
        <p:nvSpPr>
          <p:cNvPr id="34" name="Text 22"/>
          <p:cNvSpPr/>
          <p:nvPr/>
        </p:nvSpPr>
        <p:spPr>
          <a:xfrm>
            <a:off x="4782312" y="3858768"/>
            <a:ext cx="10429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Providers,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routing, limits</a:t>
            </a:r>
            <a:endParaRPr lang="en-US" sz="900" dirty="0"/>
          </a:p>
        </p:txBody>
      </p:sp>
      <p:sp>
        <p:nvSpPr>
          <p:cNvPr id="35" name="Shape 23"/>
          <p:cNvSpPr/>
          <p:nvPr/>
        </p:nvSpPr>
        <p:spPr>
          <a:xfrm>
            <a:off x="6666799" y="2834640"/>
            <a:ext cx="10058" cy="201168"/>
          </a:xfrm>
          <a:prstGeom prst="rect">
            <a:avLst/>
          </a:prstGeom>
          <a:solidFill>
            <a:srgbClr val="E8E8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24"/>
          <p:cNvSpPr/>
          <p:nvPr/>
        </p:nvSpPr>
        <p:spPr>
          <a:xfrm>
            <a:off x="6026445" y="3035808"/>
            <a:ext cx="1280709" cy="1463040"/>
          </a:xfrm>
          <a:prstGeom prst="roundRect">
            <a:avLst>
              <a:gd name="adj" fmla="val 7854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1037" y="3218688"/>
            <a:ext cx="265176" cy="265176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6191037" y="3566160"/>
            <a:ext cx="10246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Data</a:t>
            </a:r>
            <a:endParaRPr lang="en-US" sz="1100" dirty="0"/>
          </a:p>
        </p:txBody>
      </p:sp>
      <p:sp>
        <p:nvSpPr>
          <p:cNvPr id="39" name="Text 26"/>
          <p:cNvSpPr/>
          <p:nvPr/>
        </p:nvSpPr>
        <p:spPr>
          <a:xfrm>
            <a:off x="6191037" y="3858768"/>
            <a:ext cx="10429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Residency,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retention, RAG</a:t>
            </a:r>
            <a:endParaRPr lang="en-US" sz="900" dirty="0"/>
          </a:p>
        </p:txBody>
      </p:sp>
      <p:sp>
        <p:nvSpPr>
          <p:cNvPr id="40" name="Shape 27"/>
          <p:cNvSpPr/>
          <p:nvPr/>
        </p:nvSpPr>
        <p:spPr>
          <a:xfrm>
            <a:off x="8075524" y="2834640"/>
            <a:ext cx="10058" cy="201168"/>
          </a:xfrm>
          <a:prstGeom prst="rect">
            <a:avLst/>
          </a:prstGeom>
          <a:solidFill>
            <a:srgbClr val="E8E8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28"/>
          <p:cNvSpPr/>
          <p:nvPr/>
        </p:nvSpPr>
        <p:spPr>
          <a:xfrm>
            <a:off x="7435169" y="3035808"/>
            <a:ext cx="1280709" cy="1463040"/>
          </a:xfrm>
          <a:prstGeom prst="roundRect">
            <a:avLst>
              <a:gd name="adj" fmla="val 7854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99761" y="3218688"/>
            <a:ext cx="265176" cy="265176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7599761" y="3566160"/>
            <a:ext cx="10246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Access</a:t>
            </a:r>
            <a:endParaRPr lang="en-US" sz="1100" dirty="0"/>
          </a:p>
        </p:txBody>
      </p:sp>
      <p:sp>
        <p:nvSpPr>
          <p:cNvPr id="44" name="Text 30"/>
          <p:cNvSpPr/>
          <p:nvPr/>
        </p:nvSpPr>
        <p:spPr>
          <a:xfrm>
            <a:off x="7599761" y="3858768"/>
            <a:ext cx="10429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Projects, roles,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API tokens</a:t>
            </a:r>
            <a:endParaRPr lang="en-US" sz="900" dirty="0"/>
          </a:p>
        </p:txBody>
      </p:sp>
      <p:sp>
        <p:nvSpPr>
          <p:cNvPr id="45" name="Shape 31"/>
          <p:cNvSpPr/>
          <p:nvPr/>
        </p:nvSpPr>
        <p:spPr>
          <a:xfrm>
            <a:off x="9484248" y="2834640"/>
            <a:ext cx="10058" cy="201168"/>
          </a:xfrm>
          <a:prstGeom prst="rect">
            <a:avLst/>
          </a:prstGeom>
          <a:solidFill>
            <a:srgbClr val="E8E8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32"/>
          <p:cNvSpPr/>
          <p:nvPr/>
        </p:nvSpPr>
        <p:spPr>
          <a:xfrm>
            <a:off x="8843894" y="3035808"/>
            <a:ext cx="1280709" cy="1463040"/>
          </a:xfrm>
          <a:prstGeom prst="roundRect">
            <a:avLst>
              <a:gd name="adj" fmla="val 7854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</p:sp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08486" y="3218688"/>
            <a:ext cx="265176" cy="265176"/>
          </a:xfrm>
          <a:prstGeom prst="rect">
            <a:avLst/>
          </a:prstGeom>
        </p:spPr>
      </p:pic>
      <p:sp>
        <p:nvSpPr>
          <p:cNvPr id="48" name="Text 33"/>
          <p:cNvSpPr/>
          <p:nvPr/>
        </p:nvSpPr>
        <p:spPr>
          <a:xfrm>
            <a:off x="9008486" y="3566160"/>
            <a:ext cx="10246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Policies</a:t>
            </a:r>
            <a:endParaRPr lang="en-US" sz="1100" dirty="0"/>
          </a:p>
        </p:txBody>
      </p:sp>
      <p:sp>
        <p:nvSpPr>
          <p:cNvPr id="49" name="Text 34"/>
          <p:cNvSpPr/>
          <p:nvPr/>
        </p:nvSpPr>
        <p:spPr>
          <a:xfrm>
            <a:off x="9008486" y="3858768"/>
            <a:ext cx="10429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Guardrails,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quotas, PII</a:t>
            </a:r>
            <a:endParaRPr lang="en-US" sz="900" dirty="0"/>
          </a:p>
        </p:txBody>
      </p:sp>
      <p:sp>
        <p:nvSpPr>
          <p:cNvPr id="50" name="Shape 35"/>
          <p:cNvSpPr/>
          <p:nvPr/>
        </p:nvSpPr>
        <p:spPr>
          <a:xfrm>
            <a:off x="10892973" y="2834640"/>
            <a:ext cx="10058" cy="201168"/>
          </a:xfrm>
          <a:prstGeom prst="rect">
            <a:avLst/>
          </a:prstGeom>
          <a:solidFill>
            <a:srgbClr val="E8E8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36"/>
          <p:cNvSpPr/>
          <p:nvPr/>
        </p:nvSpPr>
        <p:spPr>
          <a:xfrm>
            <a:off x="10252619" y="3035808"/>
            <a:ext cx="1280709" cy="1463040"/>
          </a:xfrm>
          <a:prstGeom prst="roundRect">
            <a:avLst>
              <a:gd name="adj" fmla="val 7854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</p:sp>
      <p:pic>
        <p:nvPicPr>
          <p:cNvPr id="52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17211" y="3218688"/>
            <a:ext cx="265176" cy="265176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10417211" y="3566160"/>
            <a:ext cx="10246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54" name="Text 38"/>
          <p:cNvSpPr/>
          <p:nvPr/>
        </p:nvSpPr>
        <p:spPr>
          <a:xfrm>
            <a:off x="10417211" y="3858768"/>
            <a:ext cx="10429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Self-hosted,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on-premise</a:t>
            </a:r>
            <a:endParaRPr lang="en-US" sz="900" dirty="0"/>
          </a:p>
        </p:txBody>
      </p:sp>
      <p:sp>
        <p:nvSpPr>
          <p:cNvPr id="55" name="Shape 39"/>
          <p:cNvSpPr/>
          <p:nvPr/>
        </p:nvSpPr>
        <p:spPr>
          <a:xfrm>
            <a:off x="4617720" y="4791456"/>
            <a:ext cx="163289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</p:sp>
      <p:sp>
        <p:nvSpPr>
          <p:cNvPr id="56" name="Text 40"/>
          <p:cNvSpPr/>
          <p:nvPr/>
        </p:nvSpPr>
        <p:spPr>
          <a:xfrm>
            <a:off x="4727448" y="4791456"/>
            <a:ext cx="14134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Self-hosted</a:t>
            </a:r>
            <a:endParaRPr lang="en-US" sz="950" dirty="0"/>
          </a:p>
        </p:txBody>
      </p:sp>
      <p:sp>
        <p:nvSpPr>
          <p:cNvPr id="57" name="Shape 41"/>
          <p:cNvSpPr/>
          <p:nvPr/>
        </p:nvSpPr>
        <p:spPr>
          <a:xfrm>
            <a:off x="6378626" y="4791456"/>
            <a:ext cx="163289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</p:sp>
      <p:sp>
        <p:nvSpPr>
          <p:cNvPr id="58" name="Text 42"/>
          <p:cNvSpPr/>
          <p:nvPr/>
        </p:nvSpPr>
        <p:spPr>
          <a:xfrm>
            <a:off x="6488354" y="4791456"/>
            <a:ext cx="14134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On-premise</a:t>
            </a:r>
            <a:endParaRPr lang="en-US" sz="950" dirty="0"/>
          </a:p>
        </p:txBody>
      </p:sp>
      <p:sp>
        <p:nvSpPr>
          <p:cNvPr id="59" name="Shape 43"/>
          <p:cNvSpPr/>
          <p:nvPr/>
        </p:nvSpPr>
        <p:spPr>
          <a:xfrm>
            <a:off x="8139532" y="4791456"/>
            <a:ext cx="163289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</p:sp>
      <p:sp>
        <p:nvSpPr>
          <p:cNvPr id="60" name="Text 44"/>
          <p:cNvSpPr/>
          <p:nvPr/>
        </p:nvSpPr>
        <p:spPr>
          <a:xfrm>
            <a:off x="8249260" y="4791456"/>
            <a:ext cx="14134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Multi-tenant isolation</a:t>
            </a:r>
            <a:endParaRPr lang="en-US" sz="950" dirty="0"/>
          </a:p>
        </p:txBody>
      </p:sp>
      <p:sp>
        <p:nvSpPr>
          <p:cNvPr id="61" name="Shape 45"/>
          <p:cNvSpPr/>
          <p:nvPr/>
        </p:nvSpPr>
        <p:spPr>
          <a:xfrm>
            <a:off x="9900437" y="4791456"/>
            <a:ext cx="163289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</p:sp>
      <p:sp>
        <p:nvSpPr>
          <p:cNvPr id="62" name="Text 46"/>
          <p:cNvSpPr/>
          <p:nvPr/>
        </p:nvSpPr>
        <p:spPr>
          <a:xfrm>
            <a:off x="10010165" y="4791456"/>
            <a:ext cx="14134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vendor lock-in</a:t>
            </a:r>
            <a:endParaRPr lang="en-US" sz="950" dirty="0"/>
          </a:p>
        </p:txBody>
      </p:sp>
      <p:sp>
        <p:nvSpPr>
          <p:cNvPr id="63" name="Text 47"/>
          <p:cNvSpPr/>
          <p:nvPr/>
        </p:nvSpPr>
        <p:spPr>
          <a:xfrm>
            <a:off x="4617720" y="5413248"/>
            <a:ext cx="69156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platform runs where your data, policies and security requirements say it must.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73659"/>
            <a:ext cx="70409" cy="70409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02336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OPERATING 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0936" y="69494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-30" kern="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 Source + Service Model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Full control without the operational burden.</a:t>
            </a:r>
            <a:endParaRPr lang="en-US" sz="1400" dirty="0"/>
          </a:p>
        </p:txBody>
      </p:sp>
      <p:pic>
        <p:nvPicPr>
          <p:cNvPr id="6" name="Image 0" descr="/home/user/console/public/images/cognipeer-logo-d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658368" y="6382512"/>
            <a:ext cx="841248" cy="1883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53167" y="63642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98A1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13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658368" y="1828800"/>
            <a:ext cx="5266944" cy="3127248"/>
          </a:xfrm>
          <a:prstGeom prst="roundRect">
            <a:avLst>
              <a:gd name="adj" fmla="val 3216"/>
            </a:avLst>
          </a:prstGeom>
          <a:solidFill>
            <a:srgbClr val="0C1118"/>
          </a:solidFill>
          <a:ln w="12700">
            <a:solidFill>
              <a:srgbClr val="0C111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121408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26464" y="2103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CF1F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 Source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4187952" y="21031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30" kern="0" dirty="0">
                <a:solidFill>
                  <a:srgbClr val="5A64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FOUNDATION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1005840" y="2880360"/>
            <a:ext cx="64008" cy="64008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225296" y="27797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BCC7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Transparency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1005840" y="3227832"/>
            <a:ext cx="64008" cy="64008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225296" y="31272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BCC7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Extensibility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1005840" y="3575304"/>
            <a:ext cx="64008" cy="64008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225296" y="3474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BCC7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vendor lock-in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1005840" y="3922776"/>
            <a:ext cx="64008" cy="64008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225296" y="38221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BCC7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Code-level control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1005840" y="4270248"/>
            <a:ext cx="64008" cy="64008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1225296" y="41696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BCC7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Infrastructure independence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1005840" y="4617720"/>
            <a:ext cx="64008" cy="64008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1225296" y="45171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BCC7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Self-hosted architecture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263640" y="1828800"/>
            <a:ext cx="5266944" cy="3127248"/>
          </a:xfrm>
          <a:prstGeom prst="roundRect">
            <a:avLst>
              <a:gd name="adj" fmla="val 3216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  <a:effectLst>
            <a:outerShdw sx="100000" sy="100000" kx="0" ky="0" algn="bl" rotWithShape="0" blurRad="152400" dist="19050" dir="5400000">
              <a:srgbClr val="141E28">
                <a:alpha val="7000"/>
              </a:srgbClr>
            </a:outerShdw>
          </a:effectLst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2121408"/>
            <a:ext cx="310896" cy="31089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031736" y="2103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Enterprise Service Model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9793224" y="21031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30" kern="0" dirty="0">
                <a:solidFill>
                  <a:srgbClr val="98A1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OPERATIONS</a:t>
            </a:r>
            <a:endParaRPr lang="en-US" sz="85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2816352"/>
            <a:ext cx="201168" cy="20116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922008" y="27797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Deployment</a:t>
            </a:r>
            <a:endParaRPr lang="en-US" sz="115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8280" y="2816352"/>
            <a:ext cx="201168" cy="2011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409176" y="27797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Enterprise support</a:t>
            </a:r>
            <a:endParaRPr lang="en-US" sz="115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1112" y="3273552"/>
            <a:ext cx="201168" cy="20116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922008" y="32369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Integration</a:t>
            </a:r>
            <a:endParaRPr lang="en-US" sz="115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8280" y="3273552"/>
            <a:ext cx="201168" cy="20116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9409176" y="32369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Architecture services</a:t>
            </a:r>
            <a:endParaRPr lang="en-US" sz="115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1112" y="3730752"/>
            <a:ext cx="201168" cy="201168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922008" y="36941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Customization</a:t>
            </a:r>
            <a:endParaRPr lang="en-US" sz="1150" dirty="0"/>
          </a:p>
        </p:txBody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98280" y="3730752"/>
            <a:ext cx="201168" cy="201168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9409176" y="36941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Operational assistance</a:t>
            </a:r>
            <a:endParaRPr lang="en-US" sz="1150" dirty="0"/>
          </a:p>
        </p:txBody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1112" y="4187952"/>
            <a:ext cx="201168" cy="201168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6922008" y="41513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Platform upgrades</a:t>
            </a:r>
            <a:endParaRPr lang="en-US" sz="1150" dirty="0"/>
          </a:p>
        </p:txBody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98280" y="4187952"/>
            <a:ext cx="201168" cy="201168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9409176" y="41513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Continuous evolution</a:t>
            </a:r>
            <a:endParaRPr lang="en-US" sz="1150" dirty="0"/>
          </a:p>
        </p:txBody>
      </p:sp>
      <p:sp>
        <p:nvSpPr>
          <p:cNvPr id="45" name="Shape 31"/>
          <p:cNvSpPr/>
          <p:nvPr/>
        </p:nvSpPr>
        <p:spPr>
          <a:xfrm>
            <a:off x="658368" y="5138928"/>
            <a:ext cx="10874959" cy="731520"/>
          </a:xfrm>
          <a:prstGeom prst="roundRect">
            <a:avLst>
              <a:gd name="adj" fmla="val 13750"/>
            </a:avLst>
          </a:prstGeom>
          <a:solidFill>
            <a:srgbClr val="ECFDF6"/>
          </a:solidFill>
          <a:ln w="12700">
            <a:solidFill>
              <a:srgbClr val="A4F3D5"/>
            </a:solidFill>
            <a:prstDash val="solid"/>
          </a:ln>
        </p:spPr>
      </p:sp>
      <p:sp>
        <p:nvSpPr>
          <p:cNvPr id="46" name="Text 32"/>
          <p:cNvSpPr/>
          <p:nvPr/>
        </p:nvSpPr>
        <p:spPr>
          <a:xfrm>
            <a:off x="658368" y="5138928"/>
            <a:ext cx="108749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 Source Foundation</a:t>
            </a:r>
            <a:pPr algn="ctr" indent="0" marL="0">
              <a:buNone/>
            </a:pPr>
            <a:r>
              <a:rPr lang="en-US" sz="1500" dirty="0">
                <a:solidFill>
                  <a:srgbClr val="0A997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 +   </a:t>
            </a:r>
            <a:pPr algn="ctr" indent="0" marL="0">
              <a:buNone/>
            </a:pPr>
            <a:r>
              <a:rPr lang="en-US" sz="150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Enterprise Services</a:t>
            </a:r>
            <a:pPr algn="ctr" indent="0" marL="0">
              <a:buNone/>
            </a:pPr>
            <a:r>
              <a:rPr lang="en-US" sz="1500" dirty="0">
                <a:solidFill>
                  <a:srgbClr val="0A997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 =   </a:t>
            </a:r>
            <a:pPr algn="ctr" indent="0" marL="0">
              <a:buNone/>
            </a:pPr>
            <a:r>
              <a:rPr lang="en-US" sz="150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Enterprise-Ready AI Infrastructure</a:t>
            </a:r>
            <a:endParaRPr lang="en-US" sz="1500" dirty="0"/>
          </a:p>
        </p:txBody>
      </p:sp>
      <p:sp>
        <p:nvSpPr>
          <p:cNvPr id="47" name="Text 33"/>
          <p:cNvSpPr/>
          <p:nvPr/>
        </p:nvSpPr>
        <p:spPr>
          <a:xfrm>
            <a:off x="658368" y="596188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Own the platform. Keep the flexibility. Let us operate and evolve it with you.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73659"/>
            <a:ext cx="70409" cy="70409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02336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BUILD &amp; RUN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0936" y="69494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-30" kern="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Build &amp; Run AI Workloads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From experimentation to production — on one runtime path.</a:t>
            </a:r>
            <a:endParaRPr lang="en-US" sz="1400" dirty="0"/>
          </a:p>
        </p:txBody>
      </p:sp>
      <p:pic>
        <p:nvPicPr>
          <p:cNvPr id="6" name="Image 0" descr="/home/user/console/public/images/cognipeer-logo-d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658368" y="6382512"/>
            <a:ext cx="841248" cy="1883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53167" y="63642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98A1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13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658368" y="1828800"/>
            <a:ext cx="2513000" cy="1755648"/>
          </a:xfrm>
          <a:prstGeom prst="roundRect">
            <a:avLst>
              <a:gd name="adj" fmla="val 5729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  <a:effectLst>
            <a:outerShdw sx="100000" sy="100000" kx="0" ky="0" algn="bl" rotWithShape="0" blurRad="152400" dist="19050" dir="5400000">
              <a:srgbClr val="141E28">
                <a:alpha val="7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048256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394128" y="20482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8A1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877824" y="2395728"/>
            <a:ext cx="205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Build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896112" y="2834640"/>
            <a:ext cx="54864" cy="54864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078992" y="2743200"/>
            <a:ext cx="187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Agent Sandbox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896112" y="3090672"/>
            <a:ext cx="54864" cy="54864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078992" y="2999232"/>
            <a:ext cx="187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Agent SDK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896112" y="3346704"/>
            <a:ext cx="54864" cy="54864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078992" y="3255264"/>
            <a:ext cx="187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RAG &amp; Files</a:t>
            </a:r>
            <a:endParaRPr lang="en-US" sz="10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8800" y="2578608"/>
            <a:ext cx="219456" cy="21945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3445688" y="1828800"/>
            <a:ext cx="2513000" cy="1755648"/>
          </a:xfrm>
          <a:prstGeom prst="roundRect">
            <a:avLst>
              <a:gd name="adj" fmla="val 5729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  <a:effectLst>
            <a:outerShdw sx="100000" sy="100000" kx="0" ky="0" algn="bl" rotWithShape="0" blurRad="152400" dist="19050" dir="5400000">
              <a:srgbClr val="141E28">
                <a:alpha val="7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5144" y="2048256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81448" y="20482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8A1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3665144" y="2395728"/>
            <a:ext cx="205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Test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3683432" y="2834640"/>
            <a:ext cx="54864" cy="54864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3866312" y="2743200"/>
            <a:ext cx="187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Agent Runtime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3683432" y="3090672"/>
            <a:ext cx="54864" cy="54864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3866312" y="2999232"/>
            <a:ext cx="187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Traces &amp; Replay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3683432" y="3346704"/>
            <a:ext cx="54864" cy="54864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3866312" y="3255264"/>
            <a:ext cx="187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Guardrails</a:t>
            </a:r>
            <a:endParaRPr lang="en-US" sz="10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6120" y="2578608"/>
            <a:ext cx="219456" cy="219456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233008" y="1828800"/>
            <a:ext cx="2513000" cy="1755648"/>
          </a:xfrm>
          <a:prstGeom prst="roundRect">
            <a:avLst>
              <a:gd name="adj" fmla="val 5729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  <a:effectLst>
            <a:outerShdw sx="100000" sy="100000" kx="0" ky="0" algn="bl" rotWithShape="0" blurRad="152400" dist="19050" dir="5400000">
              <a:srgbClr val="141E28">
                <a:alpha val="7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2464" y="2048256"/>
            <a:ext cx="274320" cy="27432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968767" y="20482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8A1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50" dirty="0"/>
          </a:p>
        </p:txBody>
      </p:sp>
      <p:sp>
        <p:nvSpPr>
          <p:cNvPr id="34" name="Text 25"/>
          <p:cNvSpPr/>
          <p:nvPr/>
        </p:nvSpPr>
        <p:spPr>
          <a:xfrm>
            <a:off x="6452464" y="2395728"/>
            <a:ext cx="205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Deploy</a:t>
            </a:r>
            <a:endParaRPr lang="en-US" sz="1600" dirty="0"/>
          </a:p>
        </p:txBody>
      </p:sp>
      <p:sp>
        <p:nvSpPr>
          <p:cNvPr id="35" name="Shape 26"/>
          <p:cNvSpPr/>
          <p:nvPr/>
        </p:nvSpPr>
        <p:spPr>
          <a:xfrm>
            <a:off x="6470752" y="2834640"/>
            <a:ext cx="54864" cy="54864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6653632" y="2743200"/>
            <a:ext cx="187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Publish &amp; Version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6470752" y="3090672"/>
            <a:ext cx="54864" cy="54864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6653632" y="2999232"/>
            <a:ext cx="187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Authentication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6470752" y="3346704"/>
            <a:ext cx="54864" cy="54864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6653632" y="3255264"/>
            <a:ext cx="187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APIs</a:t>
            </a:r>
            <a:endParaRPr lang="en-US" sz="1000" dirty="0"/>
          </a:p>
        </p:txBody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3439" y="2578608"/>
            <a:ext cx="219456" cy="219456"/>
          </a:xfrm>
          <a:prstGeom prst="rect">
            <a:avLst/>
          </a:prstGeom>
        </p:spPr>
      </p:pic>
      <p:sp>
        <p:nvSpPr>
          <p:cNvPr id="42" name="Shape 32"/>
          <p:cNvSpPr/>
          <p:nvPr/>
        </p:nvSpPr>
        <p:spPr>
          <a:xfrm>
            <a:off x="9020327" y="1828800"/>
            <a:ext cx="2513000" cy="1755648"/>
          </a:xfrm>
          <a:prstGeom prst="roundRect">
            <a:avLst>
              <a:gd name="adj" fmla="val 5729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  <a:effectLst>
            <a:outerShdw sx="100000" sy="100000" kx="0" ky="0" algn="bl" rotWithShape="0" blurRad="152400" dist="19050" dir="5400000">
              <a:srgbClr val="141E28">
                <a:alpha val="7000"/>
              </a:srgbClr>
            </a:outerShdw>
          </a:effectLst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9783" y="2048256"/>
            <a:ext cx="274320" cy="274320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10756087" y="20482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8A1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50" dirty="0"/>
          </a:p>
        </p:txBody>
      </p:sp>
      <p:sp>
        <p:nvSpPr>
          <p:cNvPr id="45" name="Text 34"/>
          <p:cNvSpPr/>
          <p:nvPr/>
        </p:nvSpPr>
        <p:spPr>
          <a:xfrm>
            <a:off x="9239783" y="2395728"/>
            <a:ext cx="205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Run</a:t>
            </a:r>
            <a:endParaRPr lang="en-US" sz="1600" dirty="0"/>
          </a:p>
        </p:txBody>
      </p:sp>
      <p:sp>
        <p:nvSpPr>
          <p:cNvPr id="46" name="Shape 35"/>
          <p:cNvSpPr/>
          <p:nvPr/>
        </p:nvSpPr>
        <p:spPr>
          <a:xfrm>
            <a:off x="9258071" y="2834640"/>
            <a:ext cx="54864" cy="54864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9440951" y="2743200"/>
            <a:ext cx="187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Agent Server</a:t>
            </a:r>
            <a:endParaRPr lang="en-US" sz="1000" dirty="0"/>
          </a:p>
        </p:txBody>
      </p:sp>
      <p:sp>
        <p:nvSpPr>
          <p:cNvPr id="48" name="Shape 37"/>
          <p:cNvSpPr/>
          <p:nvPr/>
        </p:nvSpPr>
        <p:spPr>
          <a:xfrm>
            <a:off x="9258071" y="3090672"/>
            <a:ext cx="54864" cy="54864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38"/>
          <p:cNvSpPr/>
          <p:nvPr/>
        </p:nvSpPr>
        <p:spPr>
          <a:xfrm>
            <a:off x="9440951" y="2999232"/>
            <a:ext cx="187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Streaming</a:t>
            </a:r>
            <a:endParaRPr lang="en-US" sz="1000" dirty="0"/>
          </a:p>
        </p:txBody>
      </p:sp>
      <p:sp>
        <p:nvSpPr>
          <p:cNvPr id="50" name="Shape 39"/>
          <p:cNvSpPr/>
          <p:nvPr/>
        </p:nvSpPr>
        <p:spPr>
          <a:xfrm>
            <a:off x="9258071" y="3346704"/>
            <a:ext cx="54864" cy="54864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9440951" y="3255264"/>
            <a:ext cx="187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Production Deployment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658368" y="3877056"/>
            <a:ext cx="3442106" cy="1755648"/>
          </a:xfrm>
          <a:prstGeom prst="roundRect">
            <a:avLst>
              <a:gd name="adj" fmla="val 5729"/>
            </a:avLst>
          </a:prstGeom>
          <a:solidFill>
            <a:srgbClr val="F7F7F4"/>
          </a:solidFill>
          <a:ln w="12700">
            <a:solidFill>
              <a:srgbClr val="E8E8E3"/>
            </a:solidFill>
            <a:prstDash val="solid"/>
          </a:ln>
        </p:spPr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4114800"/>
            <a:ext cx="274320" cy="274320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1298448" y="4114800"/>
            <a:ext cx="2527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Console</a:t>
            </a:r>
            <a:endParaRPr lang="en-US" sz="1450" dirty="0"/>
          </a:p>
        </p:txBody>
      </p:sp>
      <p:sp>
        <p:nvSpPr>
          <p:cNvPr id="55" name="Text 43"/>
          <p:cNvSpPr/>
          <p:nvPr/>
        </p:nvSpPr>
        <p:spPr>
          <a:xfrm>
            <a:off x="914400" y="4535424"/>
            <a:ext cx="29300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Manages the AI environment and the infrastructure layer.</a:t>
            </a:r>
            <a:endParaRPr lang="en-US" sz="1100" dirty="0"/>
          </a:p>
        </p:txBody>
      </p:sp>
      <p:sp>
        <p:nvSpPr>
          <p:cNvPr id="56" name="Text 44"/>
          <p:cNvSpPr/>
          <p:nvPr/>
        </p:nvSpPr>
        <p:spPr>
          <a:xfrm>
            <a:off x="914400" y="5175504"/>
            <a:ext cx="29300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90" kern="0" dirty="0">
                <a:solidFill>
                  <a:srgbClr val="98A1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MODELS · PROJECTS · POLICIES · COST</a:t>
            </a:r>
            <a:endParaRPr lang="en-US" sz="800" dirty="0"/>
          </a:p>
        </p:txBody>
      </p:sp>
      <p:sp>
        <p:nvSpPr>
          <p:cNvPr id="57" name="Shape 45"/>
          <p:cNvSpPr/>
          <p:nvPr/>
        </p:nvSpPr>
        <p:spPr>
          <a:xfrm>
            <a:off x="4374794" y="3877056"/>
            <a:ext cx="3442106" cy="1755648"/>
          </a:xfrm>
          <a:prstGeom prst="roundRect">
            <a:avLst>
              <a:gd name="adj" fmla="val 5729"/>
            </a:avLst>
          </a:prstGeom>
          <a:solidFill>
            <a:srgbClr val="F7F7F4"/>
          </a:solidFill>
          <a:ln w="12700">
            <a:solidFill>
              <a:srgbClr val="E8E8E3"/>
            </a:solidFill>
            <a:prstDash val="solid"/>
          </a:ln>
        </p:spPr>
      </p:sp>
      <p:pic>
        <p:nvPicPr>
          <p:cNvPr id="58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30826" y="4114800"/>
            <a:ext cx="274320" cy="274320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5014874" y="4114800"/>
            <a:ext cx="2527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Agent SDK</a:t>
            </a:r>
            <a:endParaRPr lang="en-US" sz="1450" dirty="0"/>
          </a:p>
        </p:txBody>
      </p:sp>
      <p:sp>
        <p:nvSpPr>
          <p:cNvPr id="60" name="Text 47"/>
          <p:cNvSpPr/>
          <p:nvPr/>
        </p:nvSpPr>
        <p:spPr>
          <a:xfrm>
            <a:off x="4630826" y="4535424"/>
            <a:ext cx="29300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Controls agent execution and runtime behaviour.</a:t>
            </a:r>
            <a:endParaRPr lang="en-US" sz="1100" dirty="0"/>
          </a:p>
        </p:txBody>
      </p:sp>
      <p:sp>
        <p:nvSpPr>
          <p:cNvPr id="61" name="Text 48"/>
          <p:cNvSpPr/>
          <p:nvPr/>
        </p:nvSpPr>
        <p:spPr>
          <a:xfrm>
            <a:off x="4630826" y="5175504"/>
            <a:ext cx="29300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90" kern="0" dirty="0">
                <a:solidFill>
                  <a:srgbClr val="98A1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RUNTIME · GUARDRAILS · HUMAN-IN-THE-LOOP</a:t>
            </a:r>
            <a:endParaRPr lang="en-US" sz="800" dirty="0"/>
          </a:p>
        </p:txBody>
      </p:sp>
      <p:sp>
        <p:nvSpPr>
          <p:cNvPr id="62" name="Shape 49"/>
          <p:cNvSpPr/>
          <p:nvPr/>
        </p:nvSpPr>
        <p:spPr>
          <a:xfrm>
            <a:off x="8091221" y="3877056"/>
            <a:ext cx="3442106" cy="1755648"/>
          </a:xfrm>
          <a:prstGeom prst="roundRect">
            <a:avLst>
              <a:gd name="adj" fmla="val 5729"/>
            </a:avLst>
          </a:prstGeom>
          <a:solidFill>
            <a:srgbClr val="F7F7F4"/>
          </a:solidFill>
          <a:ln w="12700">
            <a:solidFill>
              <a:srgbClr val="E8E8E3"/>
            </a:solidFill>
            <a:prstDash val="solid"/>
          </a:ln>
        </p:spPr>
      </p:sp>
      <p:pic>
        <p:nvPicPr>
          <p:cNvPr id="63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47253" y="4114800"/>
            <a:ext cx="274320" cy="274320"/>
          </a:xfrm>
          <a:prstGeom prst="rect">
            <a:avLst/>
          </a:prstGeom>
        </p:spPr>
      </p:pic>
      <p:sp>
        <p:nvSpPr>
          <p:cNvPr id="64" name="Text 50"/>
          <p:cNvSpPr/>
          <p:nvPr/>
        </p:nvSpPr>
        <p:spPr>
          <a:xfrm>
            <a:off x="8731301" y="4114800"/>
            <a:ext cx="25277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Agent Server</a:t>
            </a:r>
            <a:endParaRPr lang="en-US" sz="1450" dirty="0"/>
          </a:p>
        </p:txBody>
      </p:sp>
      <p:sp>
        <p:nvSpPr>
          <p:cNvPr id="65" name="Text 51"/>
          <p:cNvSpPr/>
          <p:nvPr/>
        </p:nvSpPr>
        <p:spPr>
          <a:xfrm>
            <a:off x="8347253" y="4535424"/>
            <a:ext cx="29300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Publishes, versions and serves production agents.</a:t>
            </a:r>
            <a:endParaRPr lang="en-US" sz="1100" dirty="0"/>
          </a:p>
        </p:txBody>
      </p:sp>
      <p:sp>
        <p:nvSpPr>
          <p:cNvPr id="66" name="Text 52"/>
          <p:cNvSpPr/>
          <p:nvPr/>
        </p:nvSpPr>
        <p:spPr>
          <a:xfrm>
            <a:off x="8347253" y="5175504"/>
            <a:ext cx="29300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90" kern="0" dirty="0">
                <a:solidFill>
                  <a:srgbClr val="98A1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REST · SSE · AUTH · VERSIONING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73659"/>
            <a:ext cx="70409" cy="70409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02336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OBSERVE &amp; GOVERN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0936" y="69494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-30" kern="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Observe &amp; Govern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Know and control what every AI workload is doing.</a:t>
            </a:r>
            <a:endParaRPr lang="en-US" sz="1400" dirty="0"/>
          </a:p>
        </p:txBody>
      </p:sp>
      <p:pic>
        <p:nvPicPr>
          <p:cNvPr id="6" name="Image 0" descr="/home/user/console/public/images/cognipeer-logo-d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658368" y="6382512"/>
            <a:ext cx="841248" cy="1883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53167" y="63642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98A1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13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658368" y="1810512"/>
            <a:ext cx="1975104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59536" y="181051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Observe</a:t>
            </a:r>
            <a:endParaRPr 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6624" y="1929384"/>
            <a:ext cx="237744" cy="23774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944368" y="1810512"/>
            <a:ext cx="1975104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145536" y="181051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Understand</a:t>
            </a:r>
            <a:endParaRPr lang="en-US" sz="11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1929384"/>
            <a:ext cx="237744" cy="23774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230368" y="1810512"/>
            <a:ext cx="1975104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5431536" y="181051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Control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7315200" y="1810512"/>
            <a:ext cx="42181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 AI operations and governance layer — not another monitoring dashboard.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658368" y="2542032"/>
            <a:ext cx="3429914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  <a:effectLst>
            <a:outerShdw sx="100000" sy="100000" kx="0" ky="0" algn="bl" rotWithShape="0" blurRad="152400" dist="19050" dir="5400000">
              <a:srgbClr val="141E28">
                <a:alpha val="7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2779776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32688" y="3200400"/>
            <a:ext cx="28812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happened?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932688" y="3584448"/>
            <a:ext cx="288127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Tracing and observability across every run.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932688" y="4114800"/>
            <a:ext cx="2881274" cy="310896"/>
          </a:xfrm>
          <a:prstGeom prst="roundRect">
            <a:avLst>
              <a:gd name="adj" fmla="val 50000"/>
            </a:avLst>
          </a:prstGeom>
          <a:solidFill>
            <a:srgbClr val="F7F7F4"/>
          </a:solidFill>
          <a:ln w="12700">
            <a:solidFill>
              <a:srgbClr val="EFEFE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1152144" y="4114800"/>
            <a:ext cx="24423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Detailed tracing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932688" y="4480560"/>
            <a:ext cx="2881274" cy="310896"/>
          </a:xfrm>
          <a:prstGeom prst="roundRect">
            <a:avLst>
              <a:gd name="adj" fmla="val 50000"/>
            </a:avLst>
          </a:prstGeom>
          <a:solidFill>
            <a:srgbClr val="F7F7F4"/>
          </a:solidFill>
          <a:ln w="12700">
            <a:solidFill>
              <a:srgbClr val="EFEFEA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1152144" y="4480560"/>
            <a:ext cx="24423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LLM request tracking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932688" y="4846320"/>
            <a:ext cx="2881274" cy="310896"/>
          </a:xfrm>
          <a:prstGeom prst="roundRect">
            <a:avLst>
              <a:gd name="adj" fmla="val 50000"/>
            </a:avLst>
          </a:prstGeom>
          <a:solidFill>
            <a:srgbClr val="F7F7F4"/>
          </a:solidFill>
          <a:ln w="12700">
            <a:solidFill>
              <a:srgbClr val="EFEFEA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1152144" y="4846320"/>
            <a:ext cx="24423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Tool call visibility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932688" y="5212080"/>
            <a:ext cx="2881274" cy="310896"/>
          </a:xfrm>
          <a:prstGeom prst="roundRect">
            <a:avLst>
              <a:gd name="adj" fmla="val 50000"/>
            </a:avLst>
          </a:prstGeom>
          <a:solidFill>
            <a:srgbClr val="F7F7F4"/>
          </a:solidFill>
          <a:ln w="12700">
            <a:solidFill>
              <a:srgbClr val="EFEFE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152144" y="5212080"/>
            <a:ext cx="24423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Session &amp; thread view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4380890" y="2542032"/>
            <a:ext cx="3429914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  <a:effectLst>
            <a:outerShdw sx="100000" sy="100000" kx="0" ky="0" algn="bl" rotWithShape="0" blurRad="152400" dist="19050" dir="5400000">
              <a:srgbClr val="141E28">
                <a:alpha val="7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5210" y="2779776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655210" y="3200400"/>
            <a:ext cx="28812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 did it happen?</a:t>
            </a:r>
            <a:endParaRPr lang="en-US" sz="1700" dirty="0"/>
          </a:p>
        </p:txBody>
      </p:sp>
      <p:sp>
        <p:nvSpPr>
          <p:cNvPr id="33" name="Text 25"/>
          <p:cNvSpPr/>
          <p:nvPr/>
        </p:nvSpPr>
        <p:spPr>
          <a:xfrm>
            <a:off x="4655210" y="3584448"/>
            <a:ext cx="288127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Execution history, model requests, tool interactions.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4655210" y="4114800"/>
            <a:ext cx="2881274" cy="310896"/>
          </a:xfrm>
          <a:prstGeom prst="roundRect">
            <a:avLst>
              <a:gd name="adj" fmla="val 50000"/>
            </a:avLst>
          </a:prstGeom>
          <a:solidFill>
            <a:srgbClr val="F7F7F4"/>
          </a:solidFill>
          <a:ln w="12700">
            <a:solidFill>
              <a:srgbClr val="EFEFEA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4874666" y="4114800"/>
            <a:ext cx="24423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Agent execution traces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4655210" y="4480560"/>
            <a:ext cx="2881274" cy="310896"/>
          </a:xfrm>
          <a:prstGeom prst="roundRect">
            <a:avLst>
              <a:gd name="adj" fmla="val 50000"/>
            </a:avLst>
          </a:prstGeom>
          <a:solidFill>
            <a:srgbClr val="F7F7F4"/>
          </a:solidFill>
          <a:ln w="12700">
            <a:solidFill>
              <a:srgbClr val="EFEFEA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4874666" y="4480560"/>
            <a:ext cx="24423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Model requests &amp; responses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4655210" y="4846320"/>
            <a:ext cx="2881274" cy="310896"/>
          </a:xfrm>
          <a:prstGeom prst="roundRect">
            <a:avLst>
              <a:gd name="adj" fmla="val 50000"/>
            </a:avLst>
          </a:prstGeom>
          <a:solidFill>
            <a:srgbClr val="F7F7F4"/>
          </a:solidFill>
          <a:ln w="12700">
            <a:solidFill>
              <a:srgbClr val="EFEFEA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4874666" y="4846320"/>
            <a:ext cx="24423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Tool interactions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4655210" y="5212080"/>
            <a:ext cx="2881274" cy="310896"/>
          </a:xfrm>
          <a:prstGeom prst="roundRect">
            <a:avLst>
              <a:gd name="adj" fmla="val 50000"/>
            </a:avLst>
          </a:prstGeom>
          <a:solidFill>
            <a:srgbClr val="F7F7F4"/>
          </a:solidFill>
          <a:ln w="12700">
            <a:solidFill>
              <a:srgbClr val="EFEFEA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4874666" y="5212080"/>
            <a:ext cx="24423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Token &amp; latency breakdown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8103413" y="2542032"/>
            <a:ext cx="3429914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  <a:effectLst>
            <a:outerShdw sx="100000" sy="100000" kx="0" ky="0" algn="bl" rotWithShape="0" blurRad="152400" dist="19050" dir="5400000">
              <a:srgbClr val="141E28">
                <a:alpha val="7000"/>
              </a:srgbClr>
            </a:outerShdw>
          </a:effectLst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7733" y="2779776"/>
            <a:ext cx="292608" cy="292608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8377733" y="3200400"/>
            <a:ext cx="28812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we control it?</a:t>
            </a:r>
            <a:endParaRPr lang="en-US" sz="1700" dirty="0"/>
          </a:p>
        </p:txBody>
      </p:sp>
      <p:sp>
        <p:nvSpPr>
          <p:cNvPr id="45" name="Text 36"/>
          <p:cNvSpPr/>
          <p:nvPr/>
        </p:nvSpPr>
        <p:spPr>
          <a:xfrm>
            <a:off x="8377733" y="3584448"/>
            <a:ext cx="288127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Guardrails, approvals, interruption, runtime policy.</a:t>
            </a:r>
            <a:endParaRPr lang="en-US" sz="1050" dirty="0"/>
          </a:p>
        </p:txBody>
      </p:sp>
      <p:sp>
        <p:nvSpPr>
          <p:cNvPr id="46" name="Shape 37"/>
          <p:cNvSpPr/>
          <p:nvPr/>
        </p:nvSpPr>
        <p:spPr>
          <a:xfrm>
            <a:off x="8377733" y="4114800"/>
            <a:ext cx="2881274" cy="310896"/>
          </a:xfrm>
          <a:prstGeom prst="roundRect">
            <a:avLst>
              <a:gd name="adj" fmla="val 50000"/>
            </a:avLst>
          </a:prstGeom>
          <a:solidFill>
            <a:srgbClr val="F7F7F4"/>
          </a:solidFill>
          <a:ln w="12700">
            <a:solidFill>
              <a:srgbClr val="EFEFEA"/>
            </a:solidFill>
            <a:prstDash val="solid"/>
          </a:ln>
        </p:spPr>
      </p:sp>
      <p:sp>
        <p:nvSpPr>
          <p:cNvPr id="47" name="Text 38"/>
          <p:cNvSpPr/>
          <p:nvPr/>
        </p:nvSpPr>
        <p:spPr>
          <a:xfrm>
            <a:off x="8597189" y="4114800"/>
            <a:ext cx="24423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Guardrails</a:t>
            </a:r>
            <a:endParaRPr lang="en-US" sz="1000" dirty="0"/>
          </a:p>
        </p:txBody>
      </p:sp>
      <p:sp>
        <p:nvSpPr>
          <p:cNvPr id="48" name="Shape 39"/>
          <p:cNvSpPr/>
          <p:nvPr/>
        </p:nvSpPr>
        <p:spPr>
          <a:xfrm>
            <a:off x="8377733" y="4480560"/>
            <a:ext cx="2881274" cy="310896"/>
          </a:xfrm>
          <a:prstGeom prst="roundRect">
            <a:avLst>
              <a:gd name="adj" fmla="val 50000"/>
            </a:avLst>
          </a:prstGeom>
          <a:solidFill>
            <a:srgbClr val="F7F7F4"/>
          </a:solidFill>
          <a:ln w="12700">
            <a:solidFill>
              <a:srgbClr val="EFEFEA"/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8597189" y="4480560"/>
            <a:ext cx="24423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Human-in-the-loop</a:t>
            </a:r>
            <a:endParaRPr lang="en-US" sz="1000" dirty="0"/>
          </a:p>
        </p:txBody>
      </p:sp>
      <p:sp>
        <p:nvSpPr>
          <p:cNvPr id="50" name="Shape 41"/>
          <p:cNvSpPr/>
          <p:nvPr/>
        </p:nvSpPr>
        <p:spPr>
          <a:xfrm>
            <a:off x="8377733" y="4846320"/>
            <a:ext cx="2881274" cy="310896"/>
          </a:xfrm>
          <a:prstGeom prst="roundRect">
            <a:avLst>
              <a:gd name="adj" fmla="val 50000"/>
            </a:avLst>
          </a:prstGeom>
          <a:solidFill>
            <a:srgbClr val="F7F7F4"/>
          </a:solidFill>
          <a:ln w="12700">
            <a:solidFill>
              <a:srgbClr val="EFEFEA"/>
            </a:solidFill>
            <a:prstDash val="solid"/>
          </a:ln>
        </p:spPr>
      </p:sp>
      <p:sp>
        <p:nvSpPr>
          <p:cNvPr id="51" name="Text 42"/>
          <p:cNvSpPr/>
          <p:nvPr/>
        </p:nvSpPr>
        <p:spPr>
          <a:xfrm>
            <a:off x="8597189" y="4846320"/>
            <a:ext cx="24423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Interrupt · Pause · Continue</a:t>
            </a:r>
            <a:endParaRPr lang="en-US" sz="1000" dirty="0"/>
          </a:p>
        </p:txBody>
      </p:sp>
      <p:sp>
        <p:nvSpPr>
          <p:cNvPr id="52" name="Shape 43"/>
          <p:cNvSpPr/>
          <p:nvPr/>
        </p:nvSpPr>
        <p:spPr>
          <a:xfrm>
            <a:off x="8377733" y="5212080"/>
            <a:ext cx="2881274" cy="310896"/>
          </a:xfrm>
          <a:prstGeom prst="roundRect">
            <a:avLst>
              <a:gd name="adj" fmla="val 50000"/>
            </a:avLst>
          </a:prstGeom>
          <a:solidFill>
            <a:srgbClr val="F7F7F4"/>
          </a:solidFill>
          <a:ln w="12700">
            <a:solidFill>
              <a:srgbClr val="EFEFEA"/>
            </a:solidFill>
            <a:prstDash val="solid"/>
          </a:ln>
        </p:spPr>
      </p:sp>
      <p:sp>
        <p:nvSpPr>
          <p:cNvPr id="53" name="Text 44"/>
          <p:cNvSpPr/>
          <p:nvPr/>
        </p:nvSpPr>
        <p:spPr>
          <a:xfrm>
            <a:off x="8597189" y="5212080"/>
            <a:ext cx="24423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Runtime policies &amp; alerts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73659"/>
            <a:ext cx="70409" cy="70409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02336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FINOPS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0936" y="69494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-30" kern="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FinOps &amp; Optimization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Measure, control and optimize AI consumption.</a:t>
            </a:r>
            <a:endParaRPr lang="en-US" sz="1400" dirty="0"/>
          </a:p>
        </p:txBody>
      </p:sp>
      <p:pic>
        <p:nvPicPr>
          <p:cNvPr id="6" name="Image 0" descr="/home/user/console/public/images/cognipeer-logo-d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658368" y="6382512"/>
            <a:ext cx="841248" cy="1883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53167" y="63642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98A1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13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658368" y="1828800"/>
            <a:ext cx="2513000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  <a:effectLst>
            <a:outerShdw sx="100000" sy="100000" kx="0" ky="0" algn="bl" rotWithShape="0" blurRad="152400" dist="19050" dir="5400000">
              <a:srgbClr val="141E28">
                <a:alpha val="7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02996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2029968"/>
            <a:ext cx="169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Usage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896112" y="2432304"/>
            <a:ext cx="205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Tokens, requests and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calls per workload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9656" y="2404872"/>
            <a:ext cx="237744" cy="23774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3445688" y="1828800"/>
            <a:ext cx="2513000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  <a:effectLst>
            <a:outerShdw sx="100000" sy="100000" kx="0" ky="0" algn="bl" rotWithShape="0" blurRad="152400" dist="19050" dir="5400000">
              <a:srgbClr val="141E28">
                <a:alpha val="7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3432" y="2029968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067480" y="2029968"/>
            <a:ext cx="169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Cost</a:t>
            </a:r>
            <a:endParaRPr lang="en-US" sz="1450" dirty="0"/>
          </a:p>
        </p:txBody>
      </p:sp>
      <p:sp>
        <p:nvSpPr>
          <p:cNvPr id="17" name="Text 10"/>
          <p:cNvSpPr/>
          <p:nvPr/>
        </p:nvSpPr>
        <p:spPr>
          <a:xfrm>
            <a:off x="3683432" y="2432304"/>
            <a:ext cx="205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Attribution by project,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team and application</a:t>
            </a:r>
            <a:endParaRPr lang="en-US" sz="10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6976" y="2404872"/>
            <a:ext cx="237744" cy="237744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6233008" y="1828800"/>
            <a:ext cx="2513000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  <a:effectLst>
            <a:outerShdw sx="100000" sy="100000" kx="0" ky="0" algn="bl" rotWithShape="0" blurRad="152400" dist="19050" dir="5400000">
              <a:srgbClr val="141E28">
                <a:alpha val="7000"/>
              </a:srgbClr>
            </a:outerShdw>
          </a:effectLst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0752" y="2029968"/>
            <a:ext cx="274320" cy="27432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854800" y="2029968"/>
            <a:ext cx="169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Control</a:t>
            </a:r>
            <a:endParaRPr lang="en-US" sz="1450" dirty="0"/>
          </a:p>
        </p:txBody>
      </p:sp>
      <p:sp>
        <p:nvSpPr>
          <p:cNvPr id="22" name="Text 13"/>
          <p:cNvSpPr/>
          <p:nvPr/>
        </p:nvSpPr>
        <p:spPr>
          <a:xfrm>
            <a:off x="6470752" y="2432304"/>
            <a:ext cx="205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Budgets, quotas,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rate limits, alerts</a:t>
            </a:r>
            <a:endParaRPr lang="en-US" sz="10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4295" y="2404872"/>
            <a:ext cx="237744" cy="237744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9020327" y="1828800"/>
            <a:ext cx="2513000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  <a:effectLst>
            <a:outerShdw sx="100000" sy="100000" kx="0" ky="0" algn="bl" rotWithShape="0" blurRad="152400" dist="19050" dir="5400000">
              <a:srgbClr val="141E28">
                <a:alpha val="7000"/>
              </a:srgbClr>
            </a:outerShdw>
          </a:effectLst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58071" y="2029968"/>
            <a:ext cx="274320" cy="27432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9642119" y="2029968"/>
            <a:ext cx="169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Optimization</a:t>
            </a:r>
            <a:endParaRPr lang="en-US" sz="1450" dirty="0"/>
          </a:p>
        </p:txBody>
      </p:sp>
      <p:sp>
        <p:nvSpPr>
          <p:cNvPr id="27" name="Text 16"/>
          <p:cNvSpPr/>
          <p:nvPr/>
        </p:nvSpPr>
        <p:spPr>
          <a:xfrm>
            <a:off x="9258071" y="2432304"/>
            <a:ext cx="205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Model routing and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provider fallback</a:t>
            </a:r>
            <a:endParaRPr lang="en-US" sz="1000" dirty="0"/>
          </a:p>
        </p:txBody>
      </p:sp>
      <p:sp>
        <p:nvSpPr>
          <p:cNvPr id="28" name="Shape 17"/>
          <p:cNvSpPr/>
          <p:nvPr/>
        </p:nvSpPr>
        <p:spPr>
          <a:xfrm>
            <a:off x="658368" y="3456432"/>
            <a:ext cx="6419088" cy="2157984"/>
          </a:xfrm>
          <a:prstGeom prst="roundRect">
            <a:avLst>
              <a:gd name="adj" fmla="val 4661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  <a:effectLst>
            <a:outerShdw sx="100000" sy="100000" kx="0" ky="0" algn="bl" rotWithShape="0" blurRad="152400" dist="19050" dir="5400000">
              <a:srgbClr val="141E28">
                <a:alpha val="7000"/>
              </a:srgbClr>
            </a:outerShdw>
          </a:effectLst>
        </p:spPr>
      </p:sp>
      <p:sp>
        <p:nvSpPr>
          <p:cNvPr id="29" name="Shape 18"/>
          <p:cNvSpPr/>
          <p:nvPr/>
        </p:nvSpPr>
        <p:spPr>
          <a:xfrm>
            <a:off x="969264" y="3765499"/>
            <a:ext cx="70409" cy="70409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19"/>
          <p:cNvSpPr/>
          <p:nvPr/>
        </p:nvSpPr>
        <p:spPr>
          <a:xfrm>
            <a:off x="1115568" y="3694176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QUESTIONS THE PLATFORM ANSWERS</a:t>
            </a:r>
            <a:endParaRPr lang="en-US" sz="95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9264" y="4197096"/>
            <a:ext cx="201168" cy="201168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1261872" y="416966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teams consume AI resources?</a:t>
            </a:r>
            <a:endParaRPr lang="en-US" sz="115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9264" y="4562856"/>
            <a:ext cx="201168" cy="201168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1261872" y="453542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applications generate the highest cost?</a:t>
            </a:r>
            <a:endParaRPr lang="en-US" sz="1150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9264" y="4928616"/>
            <a:ext cx="201168" cy="201168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1261872" y="490118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models are being used, and where?</a:t>
            </a:r>
            <a:endParaRPr lang="en-US" sz="1150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9264" y="5294376"/>
            <a:ext cx="201168" cy="201168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1261872" y="526694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can workloads be routed more efficiently?</a:t>
            </a:r>
            <a:endParaRPr lang="en-US" sz="1150" dirty="0"/>
          </a:p>
        </p:txBody>
      </p:sp>
      <p:sp>
        <p:nvSpPr>
          <p:cNvPr id="39" name="Shape 24"/>
          <p:cNvSpPr/>
          <p:nvPr/>
        </p:nvSpPr>
        <p:spPr>
          <a:xfrm>
            <a:off x="7406640" y="3456432"/>
            <a:ext cx="4126687" cy="2157984"/>
          </a:xfrm>
          <a:prstGeom prst="roundRect">
            <a:avLst>
              <a:gd name="adj" fmla="val 4661"/>
            </a:avLst>
          </a:prstGeom>
          <a:solidFill>
            <a:srgbClr val="0C1118"/>
          </a:solidFill>
          <a:ln w="12700">
            <a:solidFill>
              <a:srgbClr val="0C1118"/>
            </a:solidFill>
            <a:prstDash val="solid"/>
          </a:ln>
        </p:spPr>
      </p:sp>
      <p:sp>
        <p:nvSpPr>
          <p:cNvPr id="40" name="Text 25"/>
          <p:cNvSpPr/>
          <p:nvPr/>
        </p:nvSpPr>
        <p:spPr>
          <a:xfrm>
            <a:off x="7717536" y="3694176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ECF1F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AI consumption should be measurable, attributable and controllable.</a:t>
            </a:r>
            <a:endParaRPr lang="en-US" sz="1700" dirty="0"/>
          </a:p>
        </p:txBody>
      </p:sp>
      <p:sp>
        <p:nvSpPr>
          <p:cNvPr id="41" name="Shape 26"/>
          <p:cNvSpPr/>
          <p:nvPr/>
        </p:nvSpPr>
        <p:spPr>
          <a:xfrm>
            <a:off x="7717536" y="4791456"/>
            <a:ext cx="3520440" cy="10058"/>
          </a:xfrm>
          <a:prstGeom prst="rect">
            <a:avLst/>
          </a:prstGeom>
          <a:solidFill>
            <a:srgbClr val="2A32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27"/>
          <p:cNvSpPr/>
          <p:nvPr/>
        </p:nvSpPr>
        <p:spPr>
          <a:xfrm>
            <a:off x="7717536" y="497433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spc="100" kern="0" dirty="0">
                <a:solidFill>
                  <a:srgbClr val="0FBA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BUDGETS · QUOTAS · RATE LIMITS · COST ALERTS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73659"/>
            <a:ext cx="70409" cy="70409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02336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· SERVICES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0936" y="69494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-30" kern="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Key Services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Core services for enterprise AI infrastructure.</a:t>
            </a:r>
            <a:endParaRPr lang="en-US" sz="1400" dirty="0"/>
          </a:p>
        </p:txBody>
      </p:sp>
      <p:pic>
        <p:nvPicPr>
          <p:cNvPr id="6" name="Image 0" descr="/home/user/console/public/images/cognipeer-logo-d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658368" y="6382512"/>
            <a:ext cx="841248" cy="1883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53167" y="63642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98A1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13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658368" y="1874520"/>
            <a:ext cx="2526716" cy="1773936"/>
          </a:xfrm>
          <a:prstGeom prst="roundRect">
            <a:avLst>
              <a:gd name="adj" fmla="val 567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  <a:effectLst>
            <a:outerShdw sx="100000" sy="100000" kx="0" ky="0" algn="bl" rotWithShape="0" blurRad="152400" dist="19050" dir="5400000">
              <a:srgbClr val="141E28">
                <a:alpha val="7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914400" y="2130552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ECFDF6"/>
          </a:solidFill>
          <a:ln w="12700">
            <a:solidFill>
              <a:srgbClr val="A4F3D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258568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2770632"/>
            <a:ext cx="20146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LLM Gateway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914400" y="3081528"/>
            <a:ext cx="2069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Unified access to multiple models and providers.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3441116" y="1874520"/>
            <a:ext cx="2526716" cy="1773936"/>
          </a:xfrm>
          <a:prstGeom prst="roundRect">
            <a:avLst>
              <a:gd name="adj" fmla="val 567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  <a:effectLst>
            <a:outerShdw sx="100000" sy="100000" kx="0" ky="0" algn="bl" rotWithShape="0" blurRad="152400" dist="19050" dir="5400000">
              <a:srgbClr val="141E28">
                <a:alpha val="7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97148" y="2130552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ECFDF6"/>
          </a:solidFill>
          <a:ln w="12700">
            <a:solidFill>
              <a:srgbClr val="A4F3D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64" y="225856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697148" y="2770632"/>
            <a:ext cx="20146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Agent Sandbox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3697148" y="3081528"/>
            <a:ext cx="2069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Controlled environment to develop and test agents.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6223864" y="1874520"/>
            <a:ext cx="2526716" cy="1773936"/>
          </a:xfrm>
          <a:prstGeom prst="roundRect">
            <a:avLst>
              <a:gd name="adj" fmla="val 567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  <a:effectLst>
            <a:outerShdw sx="100000" sy="100000" kx="0" ky="0" algn="bl" rotWithShape="0" blurRad="152400" dist="19050" dir="5400000">
              <a:srgbClr val="141E28">
                <a:alpha val="7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479896" y="2130552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ECFDF6"/>
          </a:solidFill>
          <a:ln w="12700">
            <a:solidFill>
              <a:srgbClr val="A4F3D5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7912" y="2258568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79896" y="2770632"/>
            <a:ext cx="20146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Agent SDK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6479896" y="3081528"/>
            <a:ext cx="2069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Runtime layer for controlled, production-grade agents.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9006611" y="1874520"/>
            <a:ext cx="2526716" cy="1773936"/>
          </a:xfrm>
          <a:prstGeom prst="roundRect">
            <a:avLst>
              <a:gd name="adj" fmla="val 567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  <a:effectLst>
            <a:outerShdw sx="100000" sy="100000" kx="0" ky="0" algn="bl" rotWithShape="0" blurRad="152400" dist="19050" dir="5400000">
              <a:srgbClr val="141E28">
                <a:alpha val="7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9262643" y="2130552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ECFDF6"/>
          </a:solidFill>
          <a:ln w="12700">
            <a:solidFill>
              <a:srgbClr val="A4F3D5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0659" y="2258568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262643" y="2770632"/>
            <a:ext cx="20146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RAG &amp; Files Pipeline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9262643" y="3081528"/>
            <a:ext cx="2069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Enterprise document ingestion and knowledge grounding.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658368" y="3794760"/>
            <a:ext cx="2526716" cy="1773936"/>
          </a:xfrm>
          <a:prstGeom prst="roundRect">
            <a:avLst>
              <a:gd name="adj" fmla="val 567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  <a:effectLst>
            <a:outerShdw sx="100000" sy="100000" kx="0" ky="0" algn="bl" rotWithShape="0" blurRad="152400" dist="19050" dir="5400000">
              <a:srgbClr val="141E28">
                <a:alpha val="7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914400" y="4050792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ECFDF6"/>
          </a:solidFill>
          <a:ln w="12700">
            <a:solidFill>
              <a:srgbClr val="A4F3D5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" y="4178808"/>
            <a:ext cx="256032" cy="25603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914400" y="4690872"/>
            <a:ext cx="20146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Vector Orchestration</a:t>
            </a:r>
            <a:endParaRPr lang="en-US" sz="1300" dirty="0"/>
          </a:p>
        </p:txBody>
      </p:sp>
      <p:sp>
        <p:nvSpPr>
          <p:cNvPr id="33" name="Text 24"/>
          <p:cNvSpPr/>
          <p:nvPr/>
        </p:nvSpPr>
        <p:spPr>
          <a:xfrm>
            <a:off x="914400" y="5001768"/>
            <a:ext cx="2069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Unified management of vector infrastructure.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3441116" y="3794760"/>
            <a:ext cx="2526716" cy="1773936"/>
          </a:xfrm>
          <a:prstGeom prst="roundRect">
            <a:avLst>
              <a:gd name="adj" fmla="val 567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  <a:effectLst>
            <a:outerShdw sx="100000" sy="100000" kx="0" ky="0" algn="bl" rotWithShape="0" blurRad="152400" dist="19050" dir="5400000">
              <a:srgbClr val="141E28">
                <a:alpha val="7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3697148" y="4050792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ECFDF6"/>
          </a:solidFill>
          <a:ln w="12700">
            <a:solidFill>
              <a:srgbClr val="A4F3D5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25164" y="4178808"/>
            <a:ext cx="256032" cy="25603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3697148" y="4690872"/>
            <a:ext cx="20146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Agent Server</a:t>
            </a:r>
            <a:endParaRPr lang="en-US" sz="1300" dirty="0"/>
          </a:p>
        </p:txBody>
      </p:sp>
      <p:sp>
        <p:nvSpPr>
          <p:cNvPr id="38" name="Text 28"/>
          <p:cNvSpPr/>
          <p:nvPr/>
        </p:nvSpPr>
        <p:spPr>
          <a:xfrm>
            <a:off x="3697148" y="5001768"/>
            <a:ext cx="2069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Publishing, versioning and serving through secure APIs.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6223864" y="3794760"/>
            <a:ext cx="2526716" cy="1773936"/>
          </a:xfrm>
          <a:prstGeom prst="roundRect">
            <a:avLst>
              <a:gd name="adj" fmla="val 567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  <a:effectLst>
            <a:outerShdw sx="100000" sy="100000" kx="0" ky="0" algn="bl" rotWithShape="0" blurRad="152400" dist="19050" dir="5400000">
              <a:srgbClr val="141E28">
                <a:alpha val="7000"/>
              </a:srgbClr>
            </a:outerShdw>
          </a:effectLst>
        </p:spPr>
      </p:sp>
      <p:sp>
        <p:nvSpPr>
          <p:cNvPr id="40" name="Shape 30"/>
          <p:cNvSpPr/>
          <p:nvPr/>
        </p:nvSpPr>
        <p:spPr>
          <a:xfrm>
            <a:off x="6479896" y="4050792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ECFDF6"/>
          </a:solidFill>
          <a:ln w="12700">
            <a:solidFill>
              <a:srgbClr val="A4F3D5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7912" y="4178808"/>
            <a:ext cx="256032" cy="256032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6479896" y="4690872"/>
            <a:ext cx="20146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Tracing &amp; Observability</a:t>
            </a:r>
            <a:endParaRPr lang="en-US" sz="1300" dirty="0"/>
          </a:p>
        </p:txBody>
      </p:sp>
      <p:sp>
        <p:nvSpPr>
          <p:cNvPr id="43" name="Text 32"/>
          <p:cNvSpPr/>
          <p:nvPr/>
        </p:nvSpPr>
        <p:spPr>
          <a:xfrm>
            <a:off x="6479896" y="5001768"/>
            <a:ext cx="2069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Central visibility into model and agent execution.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9006611" y="3794760"/>
            <a:ext cx="2526716" cy="1773936"/>
          </a:xfrm>
          <a:prstGeom prst="roundRect">
            <a:avLst>
              <a:gd name="adj" fmla="val 5670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  <a:effectLst>
            <a:outerShdw sx="100000" sy="100000" kx="0" ky="0" algn="bl" rotWithShape="0" blurRad="152400" dist="19050" dir="5400000">
              <a:srgbClr val="141E28">
                <a:alpha val="7000"/>
              </a:srgbClr>
            </a:outerShdw>
          </a:effectLst>
        </p:spPr>
      </p:sp>
      <p:sp>
        <p:nvSpPr>
          <p:cNvPr id="45" name="Shape 34"/>
          <p:cNvSpPr/>
          <p:nvPr/>
        </p:nvSpPr>
        <p:spPr>
          <a:xfrm>
            <a:off x="9262643" y="4050792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ECFDF6"/>
          </a:solidFill>
          <a:ln w="12700">
            <a:solidFill>
              <a:srgbClr val="A4F3D5"/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90659" y="4178808"/>
            <a:ext cx="256032" cy="256032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9262643" y="4690872"/>
            <a:ext cx="20146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Chat UI</a:t>
            </a:r>
            <a:endParaRPr lang="en-US" sz="1300" dirty="0"/>
          </a:p>
        </p:txBody>
      </p:sp>
      <p:sp>
        <p:nvSpPr>
          <p:cNvPr id="48" name="Text 36"/>
          <p:cNvSpPr/>
          <p:nvPr/>
        </p:nvSpPr>
        <p:spPr>
          <a:xfrm>
            <a:off x="9262643" y="5001768"/>
            <a:ext cx="2069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Production-ready conversational interface for the enterprise.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73659"/>
            <a:ext cx="70409" cy="70409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02336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8A93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· DEMO</a:t>
            </a:r>
            <a:endParaRPr lang="en-US" sz="950" dirty="0"/>
          </a:p>
        </p:txBody>
      </p:sp>
      <p:pic>
        <p:nvPicPr>
          <p:cNvPr id="4" name="Image 0" descr="/home/user/console/public/images/cognipeer-logo-w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658368" y="6382512"/>
            <a:ext cx="841248" cy="1883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53167" y="63642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A64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13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630936" y="9601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spc="-60" kern="0" dirty="0">
                <a:solidFill>
                  <a:srgbClr val="ECF1F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Live Demo</a:t>
            </a:r>
            <a:endParaRPr lang="en-US" sz="4400" dirty="0"/>
          </a:p>
        </p:txBody>
      </p:sp>
      <p:sp>
        <p:nvSpPr>
          <p:cNvPr id="8" name="Text 4"/>
          <p:cNvSpPr/>
          <p:nvPr/>
        </p:nvSpPr>
        <p:spPr>
          <a:xfrm>
            <a:off x="658368" y="182880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4BCC7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From control plane to running AI workload.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58368" y="2697480"/>
            <a:ext cx="1975104" cy="493776"/>
          </a:xfrm>
          <a:prstGeom prst="roundRect">
            <a:avLst>
              <a:gd name="adj" fmla="val 50000"/>
            </a:avLst>
          </a:prstGeom>
          <a:solidFill>
            <a:srgbClr val="161C24"/>
          </a:solidFill>
          <a:ln w="12700">
            <a:solidFill>
              <a:srgbClr val="1D242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32688" y="2697480"/>
            <a:ext cx="1426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4BCC7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  Configure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852928" y="2697480"/>
            <a:ext cx="1975104" cy="493776"/>
          </a:xfrm>
          <a:prstGeom prst="roundRect">
            <a:avLst>
              <a:gd name="adj" fmla="val 50000"/>
            </a:avLst>
          </a:prstGeom>
          <a:solidFill>
            <a:srgbClr val="161C24"/>
          </a:solidFill>
          <a:ln w="12700">
            <a:solidFill>
              <a:srgbClr val="1D242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127248" y="2697480"/>
            <a:ext cx="1426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4BCC7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  Build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047488" y="2697480"/>
            <a:ext cx="1975104" cy="493776"/>
          </a:xfrm>
          <a:prstGeom prst="roundRect">
            <a:avLst>
              <a:gd name="adj" fmla="val 50000"/>
            </a:avLst>
          </a:prstGeom>
          <a:solidFill>
            <a:srgbClr val="161C24"/>
          </a:solidFill>
          <a:ln w="12700">
            <a:solidFill>
              <a:srgbClr val="1D242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321808" y="2697480"/>
            <a:ext cx="1426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4BCC7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  Run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58368" y="3355848"/>
            <a:ext cx="1975104" cy="493776"/>
          </a:xfrm>
          <a:prstGeom prst="roundRect">
            <a:avLst>
              <a:gd name="adj" fmla="val 50000"/>
            </a:avLst>
          </a:prstGeom>
          <a:solidFill>
            <a:srgbClr val="161C24"/>
          </a:solidFill>
          <a:ln w="12700">
            <a:solidFill>
              <a:srgbClr val="1D242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32688" y="3355848"/>
            <a:ext cx="1426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4BCC7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  Observe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852928" y="3355848"/>
            <a:ext cx="1975104" cy="493776"/>
          </a:xfrm>
          <a:prstGeom prst="roundRect">
            <a:avLst>
              <a:gd name="adj" fmla="val 50000"/>
            </a:avLst>
          </a:prstGeom>
          <a:solidFill>
            <a:srgbClr val="161C24"/>
          </a:solidFill>
          <a:ln w="12700">
            <a:solidFill>
              <a:srgbClr val="1D242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127248" y="3355848"/>
            <a:ext cx="1426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4BCC7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  Control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047488" y="3355848"/>
            <a:ext cx="1975104" cy="493776"/>
          </a:xfrm>
          <a:prstGeom prst="roundRect">
            <a:avLst>
              <a:gd name="adj" fmla="val 50000"/>
            </a:avLst>
          </a:prstGeom>
          <a:solidFill>
            <a:srgbClr val="161C24"/>
          </a:solidFill>
          <a:ln w="12700">
            <a:solidFill>
              <a:srgbClr val="1D242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321808" y="3355848"/>
            <a:ext cx="1426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4BCC7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06  Optimize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58368" y="4480560"/>
            <a:ext cx="5852160" cy="10058"/>
          </a:xfrm>
          <a:prstGeom prst="rect">
            <a:avLst/>
          </a:prstGeom>
          <a:solidFill>
            <a:srgbClr val="1D24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58368" y="46634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9F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platform — configure the infrastructure, build the workload, run it, and see exactly what it did and what it cost.</a:t>
            </a:r>
            <a:endParaRPr lang="en-US" sz="1150" dirty="0"/>
          </a:p>
        </p:txBody>
      </p:sp>
      <p:pic>
        <p:nvPicPr>
          <p:cNvPr id="23" name="Image 1" descr="/tmp/cognipeer-deck-Bc8IBO/shot-trac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2767" y="2194560"/>
            <a:ext cx="4480560" cy="279806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052767" y="51206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5A64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CONSOLE · AGENT OBSERVABILITY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73659"/>
            <a:ext cx="70409" cy="70409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02336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· DISCUSSION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0936" y="69494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-30" kern="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Architecture &amp; Deployment Discussion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does this fit into your AI architecture?</a:t>
            </a:r>
            <a:endParaRPr lang="en-US" sz="1400" dirty="0"/>
          </a:p>
        </p:txBody>
      </p:sp>
      <p:pic>
        <p:nvPicPr>
          <p:cNvPr id="6" name="Image 0" descr="/home/user/console/public/images/cognipeer-logo-d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658368" y="6382512"/>
            <a:ext cx="841248" cy="1883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53167" y="63642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98A1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13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658368" y="1920240"/>
            <a:ext cx="2014057" cy="896112"/>
          </a:xfrm>
          <a:prstGeom prst="roundRect">
            <a:avLst>
              <a:gd name="adj" fmla="val 11224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  <a:effectLst>
            <a:outerShdw sx="100000" sy="100000" kx="0" ky="0" algn="bl" rotWithShape="0" blurRad="152400" dist="19050" dir="5400000">
              <a:srgbClr val="141E28">
                <a:alpha val="7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10312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59536" y="2423160"/>
            <a:ext cx="16848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Existing AI workloads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2873593" y="1920240"/>
            <a:ext cx="2014057" cy="896112"/>
          </a:xfrm>
          <a:prstGeom prst="roundRect">
            <a:avLst>
              <a:gd name="adj" fmla="val 11224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  <a:effectLst>
            <a:outerShdw sx="100000" sy="100000" kx="0" ky="0" algn="bl" rotWithShape="0" blurRad="152400" dist="19050" dir="5400000">
              <a:srgbClr val="141E28">
                <a:alpha val="7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4761" y="2103120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074761" y="2423160"/>
            <a:ext cx="16848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Models &amp; providers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5088819" y="1920240"/>
            <a:ext cx="2014057" cy="896112"/>
          </a:xfrm>
          <a:prstGeom prst="roundRect">
            <a:avLst>
              <a:gd name="adj" fmla="val 11224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  <a:effectLst>
            <a:outerShdw sx="100000" sy="100000" kx="0" ky="0" algn="bl" rotWithShape="0" blurRad="152400" dist="19050" dir="5400000">
              <a:srgbClr val="141E28">
                <a:alpha val="7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9987" y="2103120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89987" y="2423160"/>
            <a:ext cx="16848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Cloud / on-premise</a:t>
            </a:r>
            <a:endParaRPr lang="en-US" sz="1050" dirty="0"/>
          </a:p>
        </p:txBody>
      </p:sp>
      <p:sp>
        <p:nvSpPr>
          <p:cNvPr id="18" name="Shape 11"/>
          <p:cNvSpPr/>
          <p:nvPr/>
        </p:nvSpPr>
        <p:spPr>
          <a:xfrm>
            <a:off x="7304044" y="1920240"/>
            <a:ext cx="2014057" cy="896112"/>
          </a:xfrm>
          <a:prstGeom prst="roundRect">
            <a:avLst>
              <a:gd name="adj" fmla="val 11224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  <a:effectLst>
            <a:outerShdw sx="100000" sy="100000" kx="0" ky="0" algn="bl" rotWithShape="0" blurRad="152400" dist="19050" dir="5400000">
              <a:srgbClr val="141E28">
                <a:alpha val="7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5212" y="2103120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505212" y="2423160"/>
            <a:ext cx="16848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Security requirements</a:t>
            </a:r>
            <a:endParaRPr lang="en-US" sz="1050" dirty="0"/>
          </a:p>
        </p:txBody>
      </p:sp>
      <p:sp>
        <p:nvSpPr>
          <p:cNvPr id="21" name="Shape 13"/>
          <p:cNvSpPr/>
          <p:nvPr/>
        </p:nvSpPr>
        <p:spPr>
          <a:xfrm>
            <a:off x="9519270" y="1920240"/>
            <a:ext cx="2014057" cy="896112"/>
          </a:xfrm>
          <a:prstGeom prst="roundRect">
            <a:avLst>
              <a:gd name="adj" fmla="val 11224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  <a:effectLst>
            <a:outerShdw sx="100000" sy="100000" kx="0" ky="0" algn="bl" rotWithShape="0" blurRad="152400" dist="19050" dir="5400000">
              <a:srgbClr val="141E28">
                <a:alpha val="7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0438" y="2103120"/>
            <a:ext cx="256032" cy="25603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9720438" y="2423160"/>
            <a:ext cx="16848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Enterprise data sources</a:t>
            </a:r>
            <a:endParaRPr lang="en-US" sz="1050" dirty="0"/>
          </a:p>
        </p:txBody>
      </p:sp>
      <p:sp>
        <p:nvSpPr>
          <p:cNvPr id="24" name="Shape 15"/>
          <p:cNvSpPr/>
          <p:nvPr/>
        </p:nvSpPr>
        <p:spPr>
          <a:xfrm>
            <a:off x="658368" y="2926080"/>
            <a:ext cx="2014057" cy="896112"/>
          </a:xfrm>
          <a:prstGeom prst="roundRect">
            <a:avLst>
              <a:gd name="adj" fmla="val 11224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  <a:effectLst>
            <a:outerShdw sx="100000" sy="100000" kx="0" ky="0" algn="bl" rotWithShape="0" blurRad="152400" dist="19050" dir="5400000">
              <a:srgbClr val="141E28">
                <a:alpha val="7000"/>
              </a:srgbClr>
            </a:outerShdw>
          </a:effectLst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536" y="3108960"/>
            <a:ext cx="256032" cy="25603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859536" y="3429000"/>
            <a:ext cx="16848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Integration points</a:t>
            </a:r>
            <a:endParaRPr lang="en-US" sz="1050" dirty="0"/>
          </a:p>
        </p:txBody>
      </p:sp>
      <p:sp>
        <p:nvSpPr>
          <p:cNvPr id="27" name="Shape 17"/>
          <p:cNvSpPr/>
          <p:nvPr/>
        </p:nvSpPr>
        <p:spPr>
          <a:xfrm>
            <a:off x="2873593" y="2926080"/>
            <a:ext cx="2014057" cy="896112"/>
          </a:xfrm>
          <a:prstGeom prst="roundRect">
            <a:avLst>
              <a:gd name="adj" fmla="val 11224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  <a:effectLst>
            <a:outerShdw sx="100000" sy="100000" kx="0" ky="0" algn="bl" rotWithShape="0" blurRad="152400" dist="19050" dir="5400000">
              <a:srgbClr val="141E28">
                <a:alpha val="7000"/>
              </a:srgbClr>
            </a:outerShdw>
          </a:effectLst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74761" y="3108960"/>
            <a:ext cx="256032" cy="256032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3074761" y="3429000"/>
            <a:ext cx="16848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Teams &amp; projects</a:t>
            </a:r>
            <a:endParaRPr lang="en-US" sz="1050" dirty="0"/>
          </a:p>
        </p:txBody>
      </p:sp>
      <p:sp>
        <p:nvSpPr>
          <p:cNvPr id="30" name="Shape 19"/>
          <p:cNvSpPr/>
          <p:nvPr/>
        </p:nvSpPr>
        <p:spPr>
          <a:xfrm>
            <a:off x="5088819" y="2926080"/>
            <a:ext cx="2014057" cy="896112"/>
          </a:xfrm>
          <a:prstGeom prst="roundRect">
            <a:avLst>
              <a:gd name="adj" fmla="val 11224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  <a:effectLst>
            <a:outerShdw sx="100000" sy="100000" kx="0" ky="0" algn="bl" rotWithShape="0" blurRad="152400" dist="19050" dir="5400000">
              <a:srgbClr val="141E28">
                <a:alpha val="7000"/>
              </a:srgbClr>
            </a:outerShdw>
          </a:effectLst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89987" y="3108960"/>
            <a:ext cx="256032" cy="256032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5289987" y="3429000"/>
            <a:ext cx="16848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Governance &amp; policy</a:t>
            </a:r>
            <a:endParaRPr lang="en-US" sz="1050" dirty="0"/>
          </a:p>
        </p:txBody>
      </p:sp>
      <p:sp>
        <p:nvSpPr>
          <p:cNvPr id="33" name="Shape 21"/>
          <p:cNvSpPr/>
          <p:nvPr/>
        </p:nvSpPr>
        <p:spPr>
          <a:xfrm>
            <a:off x="7304044" y="2926080"/>
            <a:ext cx="2014057" cy="896112"/>
          </a:xfrm>
          <a:prstGeom prst="roundRect">
            <a:avLst>
              <a:gd name="adj" fmla="val 11224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  <a:effectLst>
            <a:outerShdw sx="100000" sy="100000" kx="0" ky="0" algn="bl" rotWithShape="0" blurRad="152400" dist="19050" dir="5400000">
              <a:srgbClr val="141E28">
                <a:alpha val="7000"/>
              </a:srgbClr>
            </a:outerShdw>
          </a:effectLst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05212" y="3108960"/>
            <a:ext cx="256032" cy="256032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7505212" y="3429000"/>
            <a:ext cx="16848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AI cost management</a:t>
            </a:r>
            <a:endParaRPr lang="en-US" sz="1050" dirty="0"/>
          </a:p>
        </p:txBody>
      </p:sp>
      <p:sp>
        <p:nvSpPr>
          <p:cNvPr id="36" name="Shape 23"/>
          <p:cNvSpPr/>
          <p:nvPr/>
        </p:nvSpPr>
        <p:spPr>
          <a:xfrm>
            <a:off x="9519270" y="2926080"/>
            <a:ext cx="2014057" cy="896112"/>
          </a:xfrm>
          <a:prstGeom prst="roundRect">
            <a:avLst>
              <a:gd name="adj" fmla="val 11224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  <a:effectLst>
            <a:outerShdw sx="100000" sy="100000" kx="0" ky="0" algn="bl" rotWithShape="0" blurRad="152400" dist="19050" dir="5400000">
              <a:srgbClr val="141E28">
                <a:alpha val="7000"/>
              </a:srgbClr>
            </a:outerShdw>
          </a:effectLst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20438" y="3108960"/>
            <a:ext cx="256032" cy="256032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9720438" y="3429000"/>
            <a:ext cx="16848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Initial pilot scope</a:t>
            </a:r>
            <a:endParaRPr lang="en-US" sz="1050" dirty="0"/>
          </a:p>
        </p:txBody>
      </p:sp>
      <p:sp>
        <p:nvSpPr>
          <p:cNvPr id="39" name="Shape 25"/>
          <p:cNvSpPr/>
          <p:nvPr/>
        </p:nvSpPr>
        <p:spPr>
          <a:xfrm>
            <a:off x="658368" y="4114800"/>
            <a:ext cx="10874959" cy="1517904"/>
          </a:xfrm>
          <a:prstGeom prst="roundRect">
            <a:avLst>
              <a:gd name="adj" fmla="val 6627"/>
            </a:avLst>
          </a:prstGeom>
          <a:solidFill>
            <a:srgbClr val="0C1118"/>
          </a:solidFill>
          <a:ln w="12700">
            <a:solidFill>
              <a:srgbClr val="0C1118"/>
            </a:solidFill>
            <a:prstDash val="solid"/>
          </a:ln>
        </p:spPr>
      </p:sp>
      <p:sp>
        <p:nvSpPr>
          <p:cNvPr id="40" name="Shape 26"/>
          <p:cNvSpPr/>
          <p:nvPr/>
        </p:nvSpPr>
        <p:spPr>
          <a:xfrm>
            <a:off x="1042416" y="4442155"/>
            <a:ext cx="70409" cy="70409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27"/>
          <p:cNvSpPr/>
          <p:nvPr/>
        </p:nvSpPr>
        <p:spPr>
          <a:xfrm>
            <a:off x="1188720" y="4370832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0FBA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STARTING POINT</a:t>
            </a:r>
            <a:endParaRPr lang="en-US" sz="950" dirty="0"/>
          </a:p>
        </p:txBody>
      </p:sp>
      <p:sp>
        <p:nvSpPr>
          <p:cNvPr id="42" name="Text 28"/>
          <p:cNvSpPr/>
          <p:nvPr/>
        </p:nvSpPr>
        <p:spPr>
          <a:xfrm>
            <a:off x="1042416" y="47548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spc="-20" kern="0" dirty="0">
                <a:solidFill>
                  <a:srgbClr val="ECF1F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AI workloads would make the best starting point for a centralized control plane?</a:t>
            </a:r>
            <a:endParaRPr lang="en-US" sz="2000" dirty="0"/>
          </a:p>
        </p:txBody>
      </p:sp>
      <p:sp>
        <p:nvSpPr>
          <p:cNvPr id="43" name="Text 29"/>
          <p:cNvSpPr/>
          <p:nvPr/>
        </p:nvSpPr>
        <p:spPr>
          <a:xfrm>
            <a:off x="8607247" y="44805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950" spc="100" kern="0" dirty="0">
                <a:solidFill>
                  <a:srgbClr val="8A93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Pilot scope</a:t>
            </a:r>
            <a:endParaRPr lang="en-US" sz="95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950" spc="100" kern="0" dirty="0">
                <a:solidFill>
                  <a:srgbClr val="8A93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Integration points</a:t>
            </a:r>
            <a:endParaRPr lang="en-US" sz="95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950" spc="100" kern="0" dirty="0">
                <a:solidFill>
                  <a:srgbClr val="8A939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Deployment model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73659"/>
            <a:ext cx="70409" cy="70409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02336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APPENDIX · A1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0936" y="69494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-30" kern="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Platform Capability 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Detail behind the four control-plane capability areas.</a:t>
            </a:r>
            <a:endParaRPr lang="en-US" sz="1400" dirty="0"/>
          </a:p>
        </p:txBody>
      </p:sp>
      <p:pic>
        <p:nvPicPr>
          <p:cNvPr id="6" name="Image 0" descr="/home/user/console/public/images/cognipeer-logo-d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658368" y="6382512"/>
            <a:ext cx="841248" cy="1883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53167" y="63642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98A1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13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658368" y="1874520"/>
            <a:ext cx="2547290" cy="3840480"/>
          </a:xfrm>
          <a:prstGeom prst="roundRect">
            <a:avLst>
              <a:gd name="adj" fmla="val 3949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  <a:effectLst>
            <a:outerShdw sx="100000" sy="100000" kx="0" ky="0" algn="bl" rotWithShape="0" blurRad="152400" dist="19050" dir="5400000">
              <a:srgbClr val="141E28">
                <a:alpha val="7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214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2121408"/>
            <a:ext cx="17243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Console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914400" y="2615184"/>
            <a:ext cx="2035226" cy="10058"/>
          </a:xfrm>
          <a:prstGeom prst="rect">
            <a:avLst/>
          </a:prstGeom>
          <a:solidFill>
            <a:srgbClr val="EFEF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932688" y="2862072"/>
            <a:ext cx="59436" cy="59436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133856" y="2761488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LLM Gateway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932688" y="3172968"/>
            <a:ext cx="59436" cy="59436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133856" y="3072384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RAG &amp; Knowledge Engine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32688" y="3483864"/>
            <a:ext cx="59436" cy="59436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133856" y="3383280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Tracing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932688" y="3794760"/>
            <a:ext cx="59436" cy="59436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133856" y="3694176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Files pipeline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932688" y="4105656"/>
            <a:ext cx="59436" cy="59436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1133856" y="4005072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Vector orchestration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932688" y="4416552"/>
            <a:ext cx="59436" cy="59436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1133856" y="4315968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Cost &amp; budget control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932688" y="4727448"/>
            <a:ext cx="59436" cy="59436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1133856" y="4626864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Multi-tenant isolation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932688" y="5038344"/>
            <a:ext cx="59436" cy="59436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1133856" y="4937760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Memory management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932688" y="5349240"/>
            <a:ext cx="59436" cy="59436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1133856" y="5248656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Alerting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3434258" y="1874520"/>
            <a:ext cx="2547290" cy="3840480"/>
          </a:xfrm>
          <a:prstGeom prst="roundRect">
            <a:avLst>
              <a:gd name="adj" fmla="val 3949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  <a:effectLst>
            <a:outerShdw sx="100000" sy="100000" kx="0" ky="0" algn="bl" rotWithShape="0" blurRad="152400" dist="19050" dir="5400000">
              <a:srgbClr val="141E28">
                <a:alpha val="7000"/>
              </a:srgbClr>
            </a:outerShdw>
          </a:effectLst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0290" y="2121408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4056050" y="2121408"/>
            <a:ext cx="17243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Agent SDK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3690290" y="2615184"/>
            <a:ext cx="2035226" cy="10058"/>
          </a:xfrm>
          <a:prstGeom prst="rect">
            <a:avLst/>
          </a:prstGeom>
          <a:solidFill>
            <a:srgbClr val="EFEF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3708578" y="2862072"/>
            <a:ext cx="59436" cy="59436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3909746" y="2761488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Message-first runtime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3708578" y="3172968"/>
            <a:ext cx="59436" cy="59436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3909746" y="3072384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Pause / continue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3708578" y="3483864"/>
            <a:ext cx="59436" cy="59436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3909746" y="3383280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Human-in-the-loop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3708578" y="3794760"/>
            <a:ext cx="59436" cy="59436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3909746" y="3694176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Structured tracking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3708578" y="4105656"/>
            <a:ext cx="59436" cy="59436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3909746" y="4005072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Interrupt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3708578" y="4416552"/>
            <a:ext cx="59436" cy="59436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3909746" y="4315968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Summarisation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3708578" y="4727448"/>
            <a:ext cx="59436" cy="59436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3909746" y="4626864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Guardrails</a:t>
            </a:r>
            <a:endParaRPr lang="en-US" sz="1000" dirty="0"/>
          </a:p>
        </p:txBody>
      </p:sp>
      <p:sp>
        <p:nvSpPr>
          <p:cNvPr id="49" name="Shape 43"/>
          <p:cNvSpPr/>
          <p:nvPr/>
        </p:nvSpPr>
        <p:spPr>
          <a:xfrm>
            <a:off x="3708578" y="5038344"/>
            <a:ext cx="59436" cy="59436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3909746" y="4937760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Planning</a:t>
            </a:r>
            <a:endParaRPr lang="en-US" sz="1000" dirty="0"/>
          </a:p>
        </p:txBody>
      </p:sp>
      <p:sp>
        <p:nvSpPr>
          <p:cNvPr id="51" name="Shape 45"/>
          <p:cNvSpPr/>
          <p:nvPr/>
        </p:nvSpPr>
        <p:spPr>
          <a:xfrm>
            <a:off x="3708578" y="5349240"/>
            <a:ext cx="59436" cy="59436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3909746" y="5248656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Multi-agent orchestration</a:t>
            </a:r>
            <a:endParaRPr lang="en-US" sz="1000" dirty="0"/>
          </a:p>
        </p:txBody>
      </p:sp>
      <p:sp>
        <p:nvSpPr>
          <p:cNvPr id="53" name="Shape 47"/>
          <p:cNvSpPr/>
          <p:nvPr/>
        </p:nvSpPr>
        <p:spPr>
          <a:xfrm>
            <a:off x="6210148" y="1874520"/>
            <a:ext cx="2547290" cy="3840480"/>
          </a:xfrm>
          <a:prstGeom prst="roundRect">
            <a:avLst>
              <a:gd name="adj" fmla="val 3949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  <a:effectLst>
            <a:outerShdw sx="100000" sy="100000" kx="0" ky="0" algn="bl" rotWithShape="0" blurRad="152400" dist="19050" dir="5400000">
              <a:srgbClr val="141E28">
                <a:alpha val="7000"/>
              </a:srgbClr>
            </a:outerShdw>
          </a:effectLst>
        </p:spPr>
      </p:sp>
      <p:pic>
        <p:nvPicPr>
          <p:cNvPr id="5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6180" y="2121408"/>
            <a:ext cx="274320" cy="274320"/>
          </a:xfrm>
          <a:prstGeom prst="rect">
            <a:avLst/>
          </a:prstGeom>
        </p:spPr>
      </p:pic>
      <p:sp>
        <p:nvSpPr>
          <p:cNvPr id="55" name="Text 48"/>
          <p:cNvSpPr/>
          <p:nvPr/>
        </p:nvSpPr>
        <p:spPr>
          <a:xfrm>
            <a:off x="6831940" y="2121408"/>
            <a:ext cx="17243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Agent Server</a:t>
            </a:r>
            <a:endParaRPr lang="en-US" sz="1400" dirty="0"/>
          </a:p>
        </p:txBody>
      </p:sp>
      <p:sp>
        <p:nvSpPr>
          <p:cNvPr id="56" name="Shape 49"/>
          <p:cNvSpPr/>
          <p:nvPr/>
        </p:nvSpPr>
        <p:spPr>
          <a:xfrm>
            <a:off x="6466180" y="2615184"/>
            <a:ext cx="2035226" cy="10058"/>
          </a:xfrm>
          <a:prstGeom prst="rect">
            <a:avLst/>
          </a:prstGeom>
          <a:solidFill>
            <a:srgbClr val="EFEF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6484468" y="2862072"/>
            <a:ext cx="59436" cy="59436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1"/>
          <p:cNvSpPr/>
          <p:nvPr/>
        </p:nvSpPr>
        <p:spPr>
          <a:xfrm>
            <a:off x="6685636" y="2761488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Multi-agent registry</a:t>
            </a:r>
            <a:endParaRPr lang="en-US" sz="1000" dirty="0"/>
          </a:p>
        </p:txBody>
      </p:sp>
      <p:sp>
        <p:nvSpPr>
          <p:cNvPr id="59" name="Shape 52"/>
          <p:cNvSpPr/>
          <p:nvPr/>
        </p:nvSpPr>
        <p:spPr>
          <a:xfrm>
            <a:off x="6484468" y="3172968"/>
            <a:ext cx="59436" cy="59436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3"/>
          <p:cNvSpPr/>
          <p:nvPr/>
        </p:nvSpPr>
        <p:spPr>
          <a:xfrm>
            <a:off x="6685636" y="3072384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REST API</a:t>
            </a:r>
            <a:endParaRPr lang="en-US" sz="1000" dirty="0"/>
          </a:p>
        </p:txBody>
      </p:sp>
      <p:sp>
        <p:nvSpPr>
          <p:cNvPr id="61" name="Shape 54"/>
          <p:cNvSpPr/>
          <p:nvPr/>
        </p:nvSpPr>
        <p:spPr>
          <a:xfrm>
            <a:off x="6484468" y="3483864"/>
            <a:ext cx="59436" cy="59436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55"/>
          <p:cNvSpPr/>
          <p:nvPr/>
        </p:nvSpPr>
        <p:spPr>
          <a:xfrm>
            <a:off x="6685636" y="3383280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SSE streaming</a:t>
            </a:r>
            <a:endParaRPr lang="en-US" sz="1000" dirty="0"/>
          </a:p>
        </p:txBody>
      </p:sp>
      <p:sp>
        <p:nvSpPr>
          <p:cNvPr id="63" name="Shape 56"/>
          <p:cNvSpPr/>
          <p:nvPr/>
        </p:nvSpPr>
        <p:spPr>
          <a:xfrm>
            <a:off x="6484468" y="3794760"/>
            <a:ext cx="59436" cy="59436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57"/>
          <p:cNvSpPr/>
          <p:nvPr/>
        </p:nvSpPr>
        <p:spPr>
          <a:xfrm>
            <a:off x="6685636" y="3694176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Swagger</a:t>
            </a:r>
            <a:endParaRPr lang="en-US" sz="1000" dirty="0"/>
          </a:p>
        </p:txBody>
      </p:sp>
      <p:sp>
        <p:nvSpPr>
          <p:cNvPr id="65" name="Shape 58"/>
          <p:cNvSpPr/>
          <p:nvPr/>
        </p:nvSpPr>
        <p:spPr>
          <a:xfrm>
            <a:off x="6484468" y="4105656"/>
            <a:ext cx="59436" cy="59436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Text 59"/>
          <p:cNvSpPr/>
          <p:nvPr/>
        </p:nvSpPr>
        <p:spPr>
          <a:xfrm>
            <a:off x="6685636" y="4005072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Authentication</a:t>
            </a:r>
            <a:endParaRPr lang="en-US" sz="1000" dirty="0"/>
          </a:p>
        </p:txBody>
      </p:sp>
      <p:sp>
        <p:nvSpPr>
          <p:cNvPr id="67" name="Shape 60"/>
          <p:cNvSpPr/>
          <p:nvPr/>
        </p:nvSpPr>
        <p:spPr>
          <a:xfrm>
            <a:off x="6484468" y="4416552"/>
            <a:ext cx="59436" cy="59436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1"/>
          <p:cNvSpPr/>
          <p:nvPr/>
        </p:nvSpPr>
        <p:spPr>
          <a:xfrm>
            <a:off x="6685636" y="4315968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Publish &amp; version</a:t>
            </a:r>
            <a:endParaRPr lang="en-US" sz="1000" dirty="0"/>
          </a:p>
        </p:txBody>
      </p:sp>
      <p:sp>
        <p:nvSpPr>
          <p:cNvPr id="69" name="Shape 62"/>
          <p:cNvSpPr/>
          <p:nvPr/>
        </p:nvSpPr>
        <p:spPr>
          <a:xfrm>
            <a:off x="6484468" y="4727448"/>
            <a:ext cx="59436" cy="59436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Text 63"/>
          <p:cNvSpPr/>
          <p:nvPr/>
        </p:nvSpPr>
        <p:spPr>
          <a:xfrm>
            <a:off x="6685636" y="4626864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Storage</a:t>
            </a:r>
            <a:endParaRPr lang="en-US" sz="1000" dirty="0"/>
          </a:p>
        </p:txBody>
      </p:sp>
      <p:sp>
        <p:nvSpPr>
          <p:cNvPr id="71" name="Shape 64"/>
          <p:cNvSpPr/>
          <p:nvPr/>
        </p:nvSpPr>
        <p:spPr>
          <a:xfrm>
            <a:off x="6484468" y="5038344"/>
            <a:ext cx="59436" cy="59436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Text 65"/>
          <p:cNvSpPr/>
          <p:nvPr/>
        </p:nvSpPr>
        <p:spPr>
          <a:xfrm>
            <a:off x="6685636" y="4937760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File upload</a:t>
            </a:r>
            <a:endParaRPr lang="en-US" sz="1000" dirty="0"/>
          </a:p>
        </p:txBody>
      </p:sp>
      <p:sp>
        <p:nvSpPr>
          <p:cNvPr id="73" name="Shape 66"/>
          <p:cNvSpPr/>
          <p:nvPr/>
        </p:nvSpPr>
        <p:spPr>
          <a:xfrm>
            <a:off x="8986037" y="1874520"/>
            <a:ext cx="2547290" cy="3840480"/>
          </a:xfrm>
          <a:prstGeom prst="roundRect">
            <a:avLst>
              <a:gd name="adj" fmla="val 3949"/>
            </a:avLst>
          </a:prstGeom>
          <a:solidFill>
            <a:srgbClr val="FFFFFF"/>
          </a:solidFill>
          <a:ln w="12700">
            <a:solidFill>
              <a:srgbClr val="E8E8E3"/>
            </a:solidFill>
            <a:prstDash val="solid"/>
          </a:ln>
          <a:effectLst>
            <a:outerShdw sx="100000" sy="100000" kx="0" ky="0" algn="bl" rotWithShape="0" blurRad="152400" dist="19050" dir="5400000">
              <a:srgbClr val="141E28">
                <a:alpha val="7000"/>
              </a:srgbClr>
            </a:outerShdw>
          </a:effectLst>
        </p:spPr>
      </p:sp>
      <p:pic>
        <p:nvPicPr>
          <p:cNvPr id="7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2069" y="2121408"/>
            <a:ext cx="274320" cy="274320"/>
          </a:xfrm>
          <a:prstGeom prst="rect">
            <a:avLst/>
          </a:prstGeom>
        </p:spPr>
      </p:pic>
      <p:sp>
        <p:nvSpPr>
          <p:cNvPr id="75" name="Text 67"/>
          <p:cNvSpPr/>
          <p:nvPr/>
        </p:nvSpPr>
        <p:spPr>
          <a:xfrm>
            <a:off x="9607829" y="2121408"/>
            <a:ext cx="17243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Chat UI</a:t>
            </a:r>
            <a:endParaRPr lang="en-US" sz="1400" dirty="0"/>
          </a:p>
        </p:txBody>
      </p:sp>
      <p:sp>
        <p:nvSpPr>
          <p:cNvPr id="76" name="Shape 68"/>
          <p:cNvSpPr/>
          <p:nvPr/>
        </p:nvSpPr>
        <p:spPr>
          <a:xfrm>
            <a:off x="9242069" y="2615184"/>
            <a:ext cx="2035226" cy="10058"/>
          </a:xfrm>
          <a:prstGeom prst="rect">
            <a:avLst/>
          </a:prstGeom>
          <a:solidFill>
            <a:srgbClr val="EFEF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Shape 69"/>
          <p:cNvSpPr/>
          <p:nvPr/>
        </p:nvSpPr>
        <p:spPr>
          <a:xfrm>
            <a:off x="9260357" y="2862072"/>
            <a:ext cx="59436" cy="59436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Text 70"/>
          <p:cNvSpPr/>
          <p:nvPr/>
        </p:nvSpPr>
        <p:spPr>
          <a:xfrm>
            <a:off x="9461525" y="2761488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Full chat</a:t>
            </a:r>
            <a:endParaRPr lang="en-US" sz="1000" dirty="0"/>
          </a:p>
        </p:txBody>
      </p:sp>
      <p:sp>
        <p:nvSpPr>
          <p:cNvPr id="79" name="Shape 71"/>
          <p:cNvSpPr/>
          <p:nvPr/>
        </p:nvSpPr>
        <p:spPr>
          <a:xfrm>
            <a:off x="9260357" y="3172968"/>
            <a:ext cx="59436" cy="59436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Text 72"/>
          <p:cNvSpPr/>
          <p:nvPr/>
        </p:nvSpPr>
        <p:spPr>
          <a:xfrm>
            <a:off x="9461525" y="3072384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Streaming UI</a:t>
            </a:r>
            <a:endParaRPr lang="en-US" sz="1000" dirty="0"/>
          </a:p>
        </p:txBody>
      </p:sp>
      <p:sp>
        <p:nvSpPr>
          <p:cNvPr id="81" name="Shape 73"/>
          <p:cNvSpPr/>
          <p:nvPr/>
        </p:nvSpPr>
        <p:spPr>
          <a:xfrm>
            <a:off x="9260357" y="3483864"/>
            <a:ext cx="59436" cy="59436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Text 74"/>
          <p:cNvSpPr/>
          <p:nvPr/>
        </p:nvSpPr>
        <p:spPr>
          <a:xfrm>
            <a:off x="9461525" y="3383280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Tool cards</a:t>
            </a:r>
            <a:endParaRPr lang="en-US" sz="1000" dirty="0"/>
          </a:p>
        </p:txBody>
      </p:sp>
      <p:sp>
        <p:nvSpPr>
          <p:cNvPr id="83" name="Shape 75"/>
          <p:cNvSpPr/>
          <p:nvPr/>
        </p:nvSpPr>
        <p:spPr>
          <a:xfrm>
            <a:off x="9260357" y="3794760"/>
            <a:ext cx="59436" cy="59436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Text 76"/>
          <p:cNvSpPr/>
          <p:nvPr/>
        </p:nvSpPr>
        <p:spPr>
          <a:xfrm>
            <a:off x="9461525" y="3694176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File attachments</a:t>
            </a:r>
            <a:endParaRPr lang="en-US" sz="1000" dirty="0"/>
          </a:p>
        </p:txBody>
      </p:sp>
      <p:sp>
        <p:nvSpPr>
          <p:cNvPr id="85" name="Shape 77"/>
          <p:cNvSpPr/>
          <p:nvPr/>
        </p:nvSpPr>
        <p:spPr>
          <a:xfrm>
            <a:off x="9260357" y="4105656"/>
            <a:ext cx="59436" cy="59436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Text 78"/>
          <p:cNvSpPr/>
          <p:nvPr/>
        </p:nvSpPr>
        <p:spPr>
          <a:xfrm>
            <a:off x="9461525" y="4005072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Themes</a:t>
            </a:r>
            <a:endParaRPr lang="en-US" sz="1000" dirty="0"/>
          </a:p>
        </p:txBody>
      </p:sp>
      <p:sp>
        <p:nvSpPr>
          <p:cNvPr id="87" name="Shape 79"/>
          <p:cNvSpPr/>
          <p:nvPr/>
        </p:nvSpPr>
        <p:spPr>
          <a:xfrm>
            <a:off x="9260357" y="4416552"/>
            <a:ext cx="59436" cy="59436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Text 80"/>
          <p:cNvSpPr/>
          <p:nvPr/>
        </p:nvSpPr>
        <p:spPr>
          <a:xfrm>
            <a:off x="9461525" y="4315968"/>
            <a:ext cx="18706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Hooks API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73659"/>
            <a:ext cx="70409" cy="70409"/>
          </a:xfrm>
          <a:prstGeom prst="ellipse">
            <a:avLst/>
          </a:prstGeom>
          <a:solidFill>
            <a:srgbClr val="0FBA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02336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APPENDIX · A2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0936" y="69494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-30" kern="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Console in Action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surfaces the live demo moves through.</a:t>
            </a:r>
            <a:endParaRPr lang="en-US" sz="1400" dirty="0"/>
          </a:p>
        </p:txBody>
      </p:sp>
      <p:pic>
        <p:nvPicPr>
          <p:cNvPr id="6" name="Image 0" descr="/home/user/console/public/images/cognipeer-logo-d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658368" y="6382512"/>
            <a:ext cx="841248" cy="1883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53167" y="63642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98A1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/ 13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658368" y="1874520"/>
            <a:ext cx="34421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 HUB</a:t>
            </a:r>
            <a:endParaRPr lang="en-US" sz="900" dirty="0"/>
          </a:p>
        </p:txBody>
      </p:sp>
      <p:pic>
        <p:nvPicPr>
          <p:cNvPr id="10" name="Image 1" descr="/tmp/cognipeer-deck-Bc8IBO/shot-mode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212848"/>
            <a:ext cx="3442106" cy="215131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8368" y="4437317"/>
            <a:ext cx="3442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Providers, models and routing under one catalogue.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4374794" y="1874520"/>
            <a:ext cx="34421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OBSERVABILITY</a:t>
            </a:r>
            <a:endParaRPr lang="en-US" sz="900" dirty="0"/>
          </a:p>
        </p:txBody>
      </p:sp>
      <p:pic>
        <p:nvPicPr>
          <p:cNvPr id="13" name="Image 2" descr="/tmp/cognipeer-deck-Bc8IBO/shot-trac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4794" y="2212848"/>
            <a:ext cx="3442106" cy="215131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374794" y="4437317"/>
            <a:ext cx="3442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Sessions, traces, tool calls and token usage.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8091221" y="1874520"/>
            <a:ext cx="34421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SANDBOX</a:t>
            </a:r>
            <a:endParaRPr lang="en-US" sz="900" dirty="0"/>
          </a:p>
        </p:txBody>
      </p:sp>
      <p:pic>
        <p:nvPicPr>
          <p:cNvPr id="16" name="Image 3" descr="/tmp/cognipeer-deck-Bc8IBO/shot-sandbox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1221" y="2212848"/>
            <a:ext cx="3442106" cy="215131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091221" y="4437317"/>
            <a:ext cx="3442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5260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Build and test agents before they reach production.</a:t>
            </a:r>
            <a:endParaRPr lang="en-US" sz="1050" dirty="0"/>
          </a:p>
        </p:txBody>
      </p:sp>
      <p:sp>
        <p:nvSpPr>
          <p:cNvPr id="18" name="Shape 11"/>
          <p:cNvSpPr/>
          <p:nvPr/>
        </p:nvSpPr>
        <p:spPr>
          <a:xfrm>
            <a:off x="658368" y="5029200"/>
            <a:ext cx="10874959" cy="786384"/>
          </a:xfrm>
          <a:prstGeom prst="roundRect">
            <a:avLst>
              <a:gd name="adj" fmla="val 12791"/>
            </a:avLst>
          </a:prstGeom>
          <a:solidFill>
            <a:srgbClr val="ECFDF6"/>
          </a:solidFill>
          <a:ln w="12700">
            <a:solidFill>
              <a:srgbClr val="A4F3D5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658368" y="5029200"/>
            <a:ext cx="1087495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C11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full walkthrough happens live — configure, build, run, observe, control, optimize.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Cognipeer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Cognipeer — Enterprise AI Control Plane</dc:title>
  <dc:subject>PptxGenJS Presentation</dc:subject>
  <dc:creator>Cognipeer</dc:creator>
  <cp:lastModifiedBy>Cognipeer</cp:lastModifiedBy>
  <cp:revision>1</cp:revision>
  <dcterms:created xsi:type="dcterms:W3CDTF">2026-08-19T10:01:56Z</dcterms:created>
  <dcterms:modified xsi:type="dcterms:W3CDTF">2026-08-19T10:01:56Z</dcterms:modified>
</cp:coreProperties>
</file>